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title" id="{96ea2245-a5de-e6bb-6f08-959a21883bb3}">
          <p14:sldIdLst>
            <p14:sldId id="256"/>
          </p14:sldIdLst>
        </p14:section>
        <p14:section name="Problem and motivation" id="{4a9249e1-d3b8-52c4-69ca-27a3063a33e8}">
          <p14:sldIdLst>
            <p14:sldId id="257"/>
          </p14:sldIdLst>
        </p14:section>
        <p14:section name="Data and layers" id="{54ca006c-1e0d-633e-e481-f9f22e78fe07}">
          <p14:sldIdLst>
            <p14:sldId id="258"/>
          </p14:sldIdLst>
        </p14:section>
        <p14:section name="Interactive functionalities" id="{8886cda4-cbac-6505-09ec-0e0442ded228}">
          <p14:sldIdLst>
            <p14:sldId id="259"/>
          </p14:sldIdLst>
        </p14:section>
        <p14:section name="Relevance and impact" id="{032aad3a-196a-de20-ef80-f207ba012b67}">
          <p14:sldIdLst>
            <p14:sldId id="260"/>
          </p14:sldIdLst>
        </p14:section>
        <p14:section name="Architecture and results" id="{7e5f513f-161f-faf9-f2f9-3ba3435b6da3}">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355B"/>
                </a:solidFill>
                <a:latin typeface="+mn-lt"/>
              </a:defRPr>
            </a:pPr>
            <a:r>
              <a:rPr sz="1100" b="0" i="0" u="none" strike="noStrike">
                <a:solidFill>
                  <a:srgbClr val="12355B"/>
                </a:solidFill>
                <a:latin typeface="+mn-lt"/>
              </a:rPr>
              <a:t>Indices runtime (s) by OpenMP threads / GPU</a:t>
            </a:r>
          </a:p>
        </c:rich>
      </c:tx>
      <c:layout/>
      <c:overlay val="0"/>
    </c:title>
    <c:autoTitleDeleted val="0"/>
    <c:plotArea>
      <c:layout/>
      <c:barChart>
        <c:barDir val="col"/>
        <c:grouping val="clustered"/>
        <c:varyColors val="0"/>
        <c:ser>
          <c:idx val="0"/>
          <c:order val="0"/>
          <c:tx>
            <c:strRef>
              <c:f>Sheet1!$B$1</c:f>
              <c:strCache>
                <c:ptCount val="1"/>
                <c:pt idx="0">
                  <c:v>Spectral indices, whole scene</c:v>
                </c:pt>
              </c:strCache>
            </c:strRef>
          </c:tx>
          <c:spPr>
            <a:solidFill>
              <a:srgbClr val="2A78D6"/>
            </a:solidFill>
            <a:effectLst/>
          </c:spPr>
          <c:invertIfNegative val="0"/>
          <c:dLbls>
            <c:numFmt formatCode="0.0" sourceLinked="0"/>
            <c:txPr>
              <a:bodyPr/>
              <a:lstStyle/>
              <a:p>
                <a:pPr>
                  <a:defRPr b="0" i="0" strike="noStrike" sz="900" u="none">
                    <a:solidFill>
                      <a:srgbClr val="52514E"/>
                    </a:solidFill>
                    <a:latin typeface="+mn-lt"/>
                  </a:defRPr>
                </a:pPr>
              </a:p>
            </c:txPr>
            <c:showLegendKey val="0"/>
            <c:showVal val="1"/>
            <c:showCatName val="0"/>
            <c:showSerName val="0"/>
            <c:showPercent val="0"/>
            <c:showBubbleSize val="0"/>
            <c:showLeaderLines val="0"/>
          </c:dLbls>
          <c:cat>
            <c:multiLvlStrRef>
              <c:f>Sheet1!$A$2:$A$8</c:f>
              <c:multiLvlStrCache>
                <c:ptCount val="7"/>
                <c:lvl>
                  <c:pt idx="0">
                    <c:v>serial</c:v>
                  </c:pt>
                  <c:pt idx="1">
                    <c:v>1</c:v>
                  </c:pt>
                  <c:pt idx="2">
                    <c:v>2</c:v>
                  </c:pt>
                  <c:pt idx="3">
                    <c:v>4</c:v>
                  </c:pt>
                  <c:pt idx="4">
                    <c:v>8</c:v>
                  </c:pt>
                  <c:pt idx="5">
                    <c:v>12</c:v>
                  </c:pt>
                  <c:pt idx="6">
                    <c:v>GPU</c:v>
                  </c:pt>
                </c:lvl>
              </c:multiLvlStrCache>
            </c:multiLvlStrRef>
          </c:cat>
          <c:val>
            <c:numRef>
              <c:f>Sheet1!$B$2:$B$8</c:f>
              <c:numCache>
                <c:formatCode>General</c:formatCode>
                <c:ptCount val="7"/>
                <c:pt idx="0">
                  <c:v>8.53</c:v>
                </c:pt>
                <c:pt idx="1">
                  <c:v>8.6</c:v>
                </c:pt>
                <c:pt idx="2">
                  <c:v>5.25</c:v>
                </c:pt>
                <c:pt idx="3">
                  <c:v>3.52</c:v>
                </c:pt>
                <c:pt idx="4">
                  <c:v>2.52</c:v>
                </c:pt>
                <c:pt idx="5">
                  <c:v>2.67</c:v>
                </c:pt>
                <c:pt idx="6">
                  <c:v>9.13</c:v>
                </c:pt>
              </c:numCache>
            </c:numRef>
          </c:val>
        </c:ser>
        <c:dLbls>
          <c:numFmt formatCode="0.0" sourceLinked="0"/>
          <c:txPr>
            <a:bodyPr/>
            <a:lstStyle/>
            <a:p>
              <a:pPr>
                <a:defRPr b="0" i="0" strike="noStrike" sz="900" u="none">
                  <a:solidFill>
                    <a:srgbClr val="52514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HyperSpatial brings full-scene hyperspectral analysis into QGIS on an ordinary computer. It has two QGIS plugins: HyperSpectral Processer, which drives a native C++ engine for spectral indices, PCA and Spectral Angle Mapper target detection, and HyperSpatial Sedona Analytics, which runs Apache Spark and Apache Sedona jobs and a Spark MLlib K-Means land-cover model. The image on the right is a real result: an 8-class land-cover map of an EnMAP scene over the Tyrolean Alps, computed in about 12 seconds and shown with its automatically labelled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Hyperspectral satellites such as EnMAP, PRISMA, EMIT and ISRO's HySIS record hundreds of bands per pixel. One EnMAP scene in this project is 686 MB with 224 bands — about 240 million reflectance values. GIS users face four barriers: desktop tools that load whole scenes into memory, GPU acceleration that is NVIDIA- or licence-bound, big-data engines like Spark that live outside the GIS and require programming, and machine learning that needs labels and code. The project's goal is full-scene analysis inside QGIS on ordinary hardware, without code and without cloud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data is one EnMAP Level-2A surface-reflectance scene over the Tyrolean Alps, acquired on 12 June 2022: 1259 by 1216 pixels at 30 metres in UTM zone 32N, with 224 bands from 418 to 2446 nanometres, stored as integer reflectance times ten thousand, 686 megabytes. DLR delivers eight quality layers with it — land/water/background classes, cloud, cloud shadow, haze, cirrus, snow, test flags and a pixel mask — which the project uses as independent reference data. Metadata and the ENVI header supply wavelengths and scaling. Users add AOI or field polygons as GeoJSON. Everything the project produces — tiles, index layers, PCA, SAM, class maps and CSV tables — is standard GeoTIFF, VRT or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QGIS window is the dashboard: two plugin dialogs act as control panels and the map canvas shows every result. In the processing plugin the user picks a raster layer, chooses indices, PCA or SAM, the CPU or GPU backend and the number of cores, and clicks run; for SAM, clicking a pixel on the map captures its full 224-band spectrum. In the analytics plugin the user chooses one of five Spark jobs — AOI statistics, per-field joins, NDVI filtering, raw-cube NDVI or K-Means land cover — and sets the number of clusters and features for the machine-learning job. Progress streams live into the dialog while QGIS stays responsive; in automated tests the interface never froze for more than 0.21 seconds. Results load automatically as styled layers: stretched indices, RGB principal components, a SAM angle ramp with a detection mask, and a K-Means map with labelled legend.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benefits: university researchers and students, who can analyse full scenes on lab laptops and Macs without a cluster, an NVIDIA GPU or a commercial licence; agriculture and forestry departments, through per-field index statistics, vegetation masks and land-cover maps; water-resource and disaster agencies, through fast water, snow and glacier detection; and planners and the QGIS community, through the built-up index and open, reusable plugins. The outcomes are measured, not projected: all seven indices for the whole scene in 2.5 seconds, a 3.4 times speed-up on eight cores, a machine-learned land-cover map in about 12 seconds, 100 percent agreement between the trained model and the produced map, and a snow cluster that matches DLR's snow mask with 0.92 precision; the water cluster reaches an intersection-over-union of 0.58.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two lanes that meet in the QGIS canvas. In the upper lane the processing plugin runs the C++17 engine, which splits the scene into tiles and processes them in parallel with OpenMP threads, each with its own GDAL handle, optionally offloading to any OpenCL GPU with an automatic CPU fallback. In the lower lane the analytics plugin launches Spark jobs; Apache Sedona evaluates per-pixel raster functions inside the JVM, and for K-Means the model trained in MLlib is compiled into a map-algebra script so every pixel is classified without leaving the JVM. The engine's tiles are the bridge between the lanes. The chart shows runtime by thread count: 8.5 seconds serial, 2.5 seconds on 8 threads. On this Apple-silicon laptop the GPU path is correct but not faster: the work is dominated by file input and output, and GPU mode drives the kernels from a single host thread, so that I/O is not parallelised. On the right are the validation results: independent NumPy agreement, CPU-GPU parity, agreement with DLR's water mask, and the automated QGIS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114800" cy="1051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377440"/>
            <a:ext cx="402336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HyperSpatial · Aaron R · Digital University Kerala</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685800"/>
            <a:ext cx="4206240" cy="274320"/>
          </a:xfrm>
          <a:prstGeom prst="rect">
            <a:avLst/>
          </a:prstGeom>
          <a:noFill/>
          <a:ln/>
        </p:spPr>
        <p:txBody>
          <a:bodyPr wrap="square" lIns="0" tIns="0" rIns="0" bIns="0" rtlCol="0" anchor="ctr"/>
          <a:lstStyle/>
          <a:p>
            <a:pPr indent="0" marL="0">
              <a:buNone/>
            </a:pPr>
            <a:r>
              <a:rPr lang="en-US" sz="1100" b="1" spc="100" kern="0" dirty="0">
                <a:solidFill>
                  <a:schemeClr val="accent4"/>
                </a:solidFill>
              </a:rPr>
              <a:t>PROJECT PRESENTATION · 1. PROJECT TITLE</a:t>
            </a:r>
            <a:endParaRPr lang="en-US" sz="1100" dirty="0"/>
          </a:p>
        </p:txBody>
      </p:sp>
      <p:sp>
        <p:nvSpPr>
          <p:cNvPr id="3" name="Text 0"/>
          <p:cNvSpPr/>
          <p:nvPr>
            <p:ph idx="100" type="title" hasCustomPrompt="1"/>
          </p:nvPr>
        </p:nvSpPr>
        <p:spPr>
          <a:xfrm>
            <a:off x="548640" y="1234440"/>
            <a:ext cx="4114800" cy="1051560"/>
          </a:xfrm>
          <a:prstGeom prst="rect">
            <a:avLst/>
          </a:prstGeom>
          <a:noFill/>
          <a:ln/>
        </p:spPr>
        <p:txBody>
          <a:bodyPr wrap="square" lIns="0" tIns="0" rIns="0" bIns="0" rtlCol="0" anchor="b"/>
          <a:lstStyle/>
          <a:p>
            <a:pPr algn="l" indent="0" marL="0">
              <a:buNone/>
            </a:pPr>
            <a:r>
              <a:rPr lang="en-US" sz="4400" b="1" dirty="0">
                <a:solidFill>
                  <a:schemeClr val="bg1"/>
                </a:solidFill>
              </a:rPr>
              <a:t>HyperSpatial</a:t>
            </a:r>
            <a:endParaRPr lang="en-US" sz="4400" dirty="0"/>
          </a:p>
        </p:txBody>
      </p:sp>
      <p:sp>
        <p:nvSpPr>
          <p:cNvPr id="4" name="Text 0"/>
          <p:cNvSpPr/>
          <p:nvPr>
            <p:ph idx="101" type="body" hasCustomPrompt="1"/>
          </p:nvPr>
        </p:nvSpPr>
        <p:spPr>
          <a:xfrm>
            <a:off x="548640" y="2377440"/>
            <a:ext cx="4023360" cy="1005840"/>
          </a:xfrm>
          <a:prstGeom prst="rect">
            <a:avLst/>
          </a:prstGeom>
          <a:noFill/>
          <a:ln/>
        </p:spPr>
        <p:txBody>
          <a:bodyPr wrap="square" lIns="0" tIns="0" rIns="0" bIns="0" rtlCol="0" anchor="t"/>
          <a:lstStyle/>
          <a:p>
            <a:pPr algn="l" indent="0" marL="0">
              <a:buNone/>
            </a:pPr>
            <a:r>
              <a:rPr lang="en-US" sz="1800" dirty="0">
                <a:solidFill>
                  <a:schemeClr val="bg2"/>
                </a:solidFill>
              </a:rPr>
              <a:t>A local-first parallel and distributed hyperspectral analytics suite for QGIS</a:t>
            </a:r>
            <a:endParaRPr lang="en-US" sz="1800" dirty="0"/>
          </a:p>
        </p:txBody>
      </p:sp>
      <p:sp>
        <p:nvSpPr>
          <p:cNvPr id="5" name="author"/>
          <p:cNvSpPr txBox="1"/>
          <p:nvPr/>
        </p:nvSpPr>
        <p:spPr>
          <a:xfrm>
            <a:off x="548640" y="3840480"/>
            <a:ext cx="4023360" cy="548640"/>
          </a:xfrm>
          <a:prstGeom prst="rect">
            <a:avLst/>
          </a:prstGeom>
          <a:noFill/>
          <a:ln/>
        </p:spPr>
        <p:txBody>
          <a:bodyPr wrap="square" lIns="0" tIns="0" rIns="0" bIns="0" rtlCol="0" anchor="ctr"/>
          <a:lstStyle/>
          <a:p>
            <a:pPr indent="0" marL="0">
              <a:buNone/>
            </a:pPr>
            <a:r>
              <a:rPr lang="en-US" sz="1400" b="1" dirty="0">
                <a:solidFill>
                  <a:schemeClr val="bg1"/>
                </a:solidFill>
              </a:rPr>
              <a:t>Aaron R</a:t>
            </a:r>
            <a:endParaRPr lang="en-US" sz="1400" dirty="0"/>
          </a:p>
          <a:p>
            <a:pPr indent="0" marL="0">
              <a:buNone/>
            </a:pPr>
            <a:r>
              <a:rPr lang="en-US" sz="1400" dirty="0">
                <a:solidFill>
                  <a:schemeClr val="bg1"/>
                </a:solidFill>
              </a:rPr>
              <a:t>Digital University Kerala · October 2026</a:t>
            </a:r>
            <a:endParaRPr lang="en-US" sz="1400" dirty="0"/>
          </a:p>
        </p:txBody>
      </p:sp>
      <p:pic>
        <p:nvPicPr>
          <p:cNvPr id="6" name="hero K-Means canvas" descr="/Users/aaronr/Desktop/SPATIAL/hyperspatial-bigdata/docs/deliverables/figures/ui_analytics_kmeans_canvas.png">    </p:cNvPr>
          <p:cNvPicPr>
            <a:picLocks noChangeAspect="1"/>
          </p:cNvPicPr>
          <p:nvPr/>
        </p:nvPicPr>
        <p:blipFill>
          <a:blip r:embed="rId1"/>
          <a:stretch>
            <a:fillRect/>
          </a:stretch>
        </p:blipFill>
        <p:spPr>
          <a:xfrm>
            <a:off x="4892040" y="1097280"/>
            <a:ext cx="3886200" cy="2319184"/>
          </a:xfrm>
          <a:prstGeom prst="rect">
            <a:avLst/>
          </a:prstGeom>
        </p:spPr>
      </p:pic>
      <p:sp>
        <p:nvSpPr>
          <p:cNvPr id="7" name="hero caption"/>
          <p:cNvSpPr txBox="1"/>
          <p:nvPr/>
        </p:nvSpPr>
        <p:spPr>
          <a:xfrm>
            <a:off x="4892040" y="3526192"/>
            <a:ext cx="3886200" cy="411480"/>
          </a:xfrm>
          <a:prstGeom prst="rect">
            <a:avLst/>
          </a:prstGeom>
          <a:noFill/>
          <a:ln/>
        </p:spPr>
        <p:txBody>
          <a:bodyPr wrap="square" lIns="0" tIns="0" rIns="0" bIns="0" rtlCol="0" anchor="ctr"/>
          <a:lstStyle/>
          <a:p>
            <a:pPr indent="0" marL="0">
              <a:buNone/>
            </a:pPr>
            <a:r>
              <a:rPr lang="en-US" sz="1100" i="1" dirty="0">
                <a:solidFill>
                  <a:schemeClr val="bg2"/>
                </a:solidFill>
              </a:rPr>
              <a:t>Machine-learned land cover of an EnMAP scene (Tyrolean Alps), produced and displayed inside QGIS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Problem statement and motivation</a:t>
            </a:r>
            <a:endParaRPr lang="en-US" sz="3000" dirty="0"/>
          </a:p>
        </p:txBody>
      </p:sp>
      <p:sp>
        <p:nvSpPr>
          <p:cNvPr id="3" name="stat card 1"/>
          <p:cNvSpPr/>
          <p:nvPr/>
        </p:nvSpPr>
        <p:spPr>
          <a:xfrm>
            <a:off x="457200" y="1097280"/>
            <a:ext cx="2560320" cy="1051560"/>
          </a:xfrm>
          <a:prstGeom prst="roundRect">
            <a:avLst>
              <a:gd name="adj" fmla="val 6957"/>
            </a:avLst>
          </a:prstGeom>
          <a:solidFill>
            <a:schemeClr val="bg2"/>
          </a:solidFill>
          <a:ln w="12700">
            <a:solidFill>
              <a:schemeClr val="bg2"/>
            </a:solidFill>
            <a:prstDash val="solid"/>
          </a:ln>
        </p:spPr>
      </p:sp>
      <p:sp>
        <p:nvSpPr>
          <p:cNvPr id="4" name="stat 1"/>
          <p:cNvSpPr txBox="1"/>
          <p:nvPr/>
        </p:nvSpPr>
        <p:spPr>
          <a:xfrm>
            <a:off x="685800" y="1161288"/>
            <a:ext cx="2103120" cy="566928"/>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224</a:t>
            </a:r>
            <a:endParaRPr lang="en-US" sz="3600" dirty="0"/>
          </a:p>
        </p:txBody>
      </p:sp>
      <p:sp>
        <p:nvSpPr>
          <p:cNvPr id="5" name="stat label 1"/>
          <p:cNvSpPr txBox="1"/>
          <p:nvPr/>
        </p:nvSpPr>
        <p:spPr>
          <a:xfrm>
            <a:off x="685800" y="1719072"/>
            <a:ext cx="2103120" cy="320040"/>
          </a:xfrm>
          <a:prstGeom prst="rect">
            <a:avLst/>
          </a:prstGeom>
          <a:noFill/>
          <a:ln/>
        </p:spPr>
        <p:txBody>
          <a:bodyPr wrap="square" lIns="0" tIns="0" rIns="0" bIns="0" rtlCol="0" anchor="ctr"/>
          <a:lstStyle/>
          <a:p>
            <a:pPr indent="0" marL="0">
              <a:buNone/>
            </a:pPr>
            <a:r>
              <a:rPr lang="en-US" sz="1200" dirty="0">
                <a:solidFill>
                  <a:schemeClr val="tx1"/>
                </a:solidFill>
              </a:rPr>
              <a:t>spectral bands per pixel</a:t>
            </a:r>
            <a:endParaRPr lang="en-US" sz="1200" dirty="0"/>
          </a:p>
        </p:txBody>
      </p:sp>
      <p:sp>
        <p:nvSpPr>
          <p:cNvPr id="6" name="stat card 2"/>
          <p:cNvSpPr/>
          <p:nvPr/>
        </p:nvSpPr>
        <p:spPr>
          <a:xfrm>
            <a:off x="3291840" y="1097280"/>
            <a:ext cx="2560320" cy="1051560"/>
          </a:xfrm>
          <a:prstGeom prst="roundRect">
            <a:avLst>
              <a:gd name="adj" fmla="val 6957"/>
            </a:avLst>
          </a:prstGeom>
          <a:solidFill>
            <a:schemeClr val="bg2"/>
          </a:solidFill>
          <a:ln w="12700">
            <a:solidFill>
              <a:schemeClr val="bg2"/>
            </a:solidFill>
            <a:prstDash val="solid"/>
          </a:ln>
        </p:spPr>
      </p:sp>
      <p:sp>
        <p:nvSpPr>
          <p:cNvPr id="7" name="stat 2"/>
          <p:cNvSpPr txBox="1"/>
          <p:nvPr/>
        </p:nvSpPr>
        <p:spPr>
          <a:xfrm>
            <a:off x="3520440" y="1161288"/>
            <a:ext cx="2103120" cy="566928"/>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686 MB</a:t>
            </a:r>
            <a:endParaRPr lang="en-US" sz="3600" dirty="0"/>
          </a:p>
        </p:txBody>
      </p:sp>
      <p:sp>
        <p:nvSpPr>
          <p:cNvPr id="8" name="stat label 2"/>
          <p:cNvSpPr txBox="1"/>
          <p:nvPr/>
        </p:nvSpPr>
        <p:spPr>
          <a:xfrm>
            <a:off x="3520440" y="1719072"/>
            <a:ext cx="2103120" cy="320040"/>
          </a:xfrm>
          <a:prstGeom prst="rect">
            <a:avLst/>
          </a:prstGeom>
          <a:noFill/>
          <a:ln/>
        </p:spPr>
        <p:txBody>
          <a:bodyPr wrap="square" lIns="0" tIns="0" rIns="0" bIns="0" rtlCol="0" anchor="ctr"/>
          <a:lstStyle/>
          <a:p>
            <a:pPr indent="0" marL="0">
              <a:buNone/>
            </a:pPr>
            <a:r>
              <a:rPr lang="en-US" sz="1200" dirty="0">
                <a:solidFill>
                  <a:schemeClr val="tx1"/>
                </a:solidFill>
              </a:rPr>
              <a:t>one EnMAP L2A scene</a:t>
            </a:r>
            <a:endParaRPr lang="en-US" sz="1200" dirty="0"/>
          </a:p>
        </p:txBody>
      </p:sp>
      <p:sp>
        <p:nvSpPr>
          <p:cNvPr id="9" name="stat card 3"/>
          <p:cNvSpPr/>
          <p:nvPr/>
        </p:nvSpPr>
        <p:spPr>
          <a:xfrm>
            <a:off x="6126480" y="1097280"/>
            <a:ext cx="2560320" cy="1051560"/>
          </a:xfrm>
          <a:prstGeom prst="roundRect">
            <a:avLst>
              <a:gd name="adj" fmla="val 6957"/>
            </a:avLst>
          </a:prstGeom>
          <a:solidFill>
            <a:schemeClr val="bg2"/>
          </a:solidFill>
          <a:ln w="12700">
            <a:solidFill>
              <a:schemeClr val="bg2"/>
            </a:solidFill>
            <a:prstDash val="solid"/>
          </a:ln>
        </p:spPr>
      </p:sp>
      <p:sp>
        <p:nvSpPr>
          <p:cNvPr id="10" name="stat 3"/>
          <p:cNvSpPr txBox="1"/>
          <p:nvPr/>
        </p:nvSpPr>
        <p:spPr>
          <a:xfrm>
            <a:off x="6355080" y="1161288"/>
            <a:ext cx="2103120" cy="566928"/>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240 M</a:t>
            </a:r>
            <a:endParaRPr lang="en-US" sz="3600" dirty="0"/>
          </a:p>
        </p:txBody>
      </p:sp>
      <p:sp>
        <p:nvSpPr>
          <p:cNvPr id="11" name="stat label 3"/>
          <p:cNvSpPr txBox="1"/>
          <p:nvPr/>
        </p:nvSpPr>
        <p:spPr>
          <a:xfrm>
            <a:off x="6355080" y="1719072"/>
            <a:ext cx="2103120" cy="320040"/>
          </a:xfrm>
          <a:prstGeom prst="rect">
            <a:avLst/>
          </a:prstGeom>
          <a:noFill/>
          <a:ln/>
        </p:spPr>
        <p:txBody>
          <a:bodyPr wrap="square" lIns="0" tIns="0" rIns="0" bIns="0" rtlCol="0" anchor="ctr"/>
          <a:lstStyle/>
          <a:p>
            <a:pPr indent="0" marL="0">
              <a:buNone/>
            </a:pPr>
            <a:r>
              <a:rPr lang="en-US" sz="1200" dirty="0">
                <a:solidFill>
                  <a:schemeClr val="tx1"/>
                </a:solidFill>
              </a:rPr>
              <a:t>reflectance values in one scene</a:t>
            </a:r>
            <a:endParaRPr lang="en-US" sz="1200" dirty="0"/>
          </a:p>
        </p:txBody>
      </p:sp>
      <p:sp>
        <p:nvSpPr>
          <p:cNvPr id="12" name="barrier 1 circle"/>
          <p:cNvSpPr/>
          <p:nvPr/>
        </p:nvSpPr>
        <p:spPr>
          <a:xfrm>
            <a:off x="457200" y="2377440"/>
            <a:ext cx="566928" cy="566928"/>
          </a:xfrm>
          <a:prstGeom prst="ellipse">
            <a:avLst/>
          </a:prstGeom>
          <a:solidFill>
            <a:schemeClr val="accent1"/>
          </a:solidFill>
          <a:ln w="12700">
            <a:solidFill>
              <a:schemeClr val="accent1"/>
            </a:solidFill>
            <a:prstDash val="solid"/>
          </a:ln>
        </p:spPr>
      </p:sp>
      <p:pic>
        <p:nvPicPr>
          <p:cNvPr id="13" name="barrier 1 icon" descr="preencoded.png">    </p:cNvPr>
          <p:cNvPicPr>
            <a:picLocks noChangeAspect="1"/>
          </p:cNvPicPr>
          <p:nvPr/>
        </p:nvPicPr>
        <p:blipFill>
          <a:blip r:embed="rId1"/>
          <a:stretch>
            <a:fillRect/>
          </a:stretch>
        </p:blipFill>
        <p:spPr>
          <a:xfrm>
            <a:off x="593263" y="2513503"/>
            <a:ext cx="294803" cy="294803"/>
          </a:xfrm>
          <a:prstGeom prst="rect">
            <a:avLst/>
          </a:prstGeom>
        </p:spPr>
      </p:pic>
      <p:sp>
        <p:nvSpPr>
          <p:cNvPr id="14" name="barrier title 1"/>
          <p:cNvSpPr txBox="1"/>
          <p:nvPr/>
        </p:nvSpPr>
        <p:spPr>
          <a:xfrm>
            <a:off x="1170432" y="2395728"/>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Memory-bound desktop tools</a:t>
            </a:r>
            <a:endParaRPr lang="en-US" sz="1500" dirty="0"/>
          </a:p>
        </p:txBody>
      </p:sp>
      <p:sp>
        <p:nvSpPr>
          <p:cNvPr id="15" name="barrier text 1"/>
          <p:cNvSpPr txBox="1"/>
          <p:nvPr/>
        </p:nvSpPr>
        <p:spPr>
          <a:xfrm>
            <a:off x="1170432" y="2688336"/>
            <a:ext cx="3337560" cy="292608"/>
          </a:xfrm>
          <a:prstGeom prst="rect">
            <a:avLst/>
          </a:prstGeom>
          <a:noFill/>
          <a:ln/>
        </p:spPr>
        <p:txBody>
          <a:bodyPr wrap="square" lIns="0" tIns="0" rIns="0" bIns="0" rtlCol="0" anchor="ctr"/>
          <a:lstStyle/>
          <a:p>
            <a:pPr indent="0" marL="0">
              <a:buNone/>
            </a:pPr>
            <a:r>
              <a:rPr lang="en-US" sz="1150" dirty="0">
                <a:solidFill>
                  <a:schemeClr val="accent6"/>
                </a:solidFill>
              </a:rPr>
              <a:t>In-memory Python tools struggle with full scenes on laptops</a:t>
            </a:r>
            <a:endParaRPr lang="en-US" sz="1150" dirty="0"/>
          </a:p>
        </p:txBody>
      </p:sp>
      <p:sp>
        <p:nvSpPr>
          <p:cNvPr id="16" name="barrier 2 circle"/>
          <p:cNvSpPr/>
          <p:nvPr/>
        </p:nvSpPr>
        <p:spPr>
          <a:xfrm>
            <a:off x="4663440" y="2377440"/>
            <a:ext cx="566928" cy="566928"/>
          </a:xfrm>
          <a:prstGeom prst="ellipse">
            <a:avLst/>
          </a:prstGeom>
          <a:solidFill>
            <a:schemeClr val="accent2"/>
          </a:solidFill>
          <a:ln w="12700">
            <a:solidFill>
              <a:schemeClr val="accent2"/>
            </a:solidFill>
            <a:prstDash val="solid"/>
          </a:ln>
        </p:spPr>
      </p:sp>
      <p:pic>
        <p:nvPicPr>
          <p:cNvPr id="17" name="barrier 2 icon" descr="preencoded.png">    </p:cNvPr>
          <p:cNvPicPr>
            <a:picLocks noChangeAspect="1"/>
          </p:cNvPicPr>
          <p:nvPr/>
        </p:nvPicPr>
        <p:blipFill>
          <a:blip r:embed="rId2"/>
          <a:stretch>
            <a:fillRect/>
          </a:stretch>
        </p:blipFill>
        <p:spPr>
          <a:xfrm>
            <a:off x="4799503" y="2513503"/>
            <a:ext cx="294803" cy="294803"/>
          </a:xfrm>
          <a:prstGeom prst="rect">
            <a:avLst/>
          </a:prstGeom>
        </p:spPr>
      </p:pic>
      <p:sp>
        <p:nvSpPr>
          <p:cNvPr id="18" name="barrier title 2"/>
          <p:cNvSpPr txBox="1"/>
          <p:nvPr/>
        </p:nvSpPr>
        <p:spPr>
          <a:xfrm>
            <a:off x="5376672" y="2395728"/>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Vendor-locked GPU acceleration</a:t>
            </a:r>
            <a:endParaRPr lang="en-US" sz="1500" dirty="0"/>
          </a:p>
        </p:txBody>
      </p:sp>
      <p:sp>
        <p:nvSpPr>
          <p:cNvPr id="19" name="barrier text 2"/>
          <p:cNvSpPr txBox="1"/>
          <p:nvPr/>
        </p:nvSpPr>
        <p:spPr>
          <a:xfrm>
            <a:off x="5376672" y="2688336"/>
            <a:ext cx="3337560" cy="292608"/>
          </a:xfrm>
          <a:prstGeom prst="rect">
            <a:avLst/>
          </a:prstGeom>
          <a:noFill/>
          <a:ln/>
        </p:spPr>
        <p:txBody>
          <a:bodyPr wrap="square" lIns="0" tIns="0" rIns="0" bIns="0" rtlCol="0" anchor="ctr"/>
          <a:lstStyle/>
          <a:p>
            <a:pPr indent="0" marL="0">
              <a:buNone/>
            </a:pPr>
            <a:r>
              <a:rPr lang="en-US" sz="1150" dirty="0">
                <a:solidFill>
                  <a:schemeClr val="accent6"/>
                </a:solidFill>
              </a:rPr>
              <a:t>Mostly NVIDIA/CUDA or commercial — Macs, AMD, Intel left out</a:t>
            </a:r>
            <a:endParaRPr lang="en-US" sz="1150" dirty="0"/>
          </a:p>
        </p:txBody>
      </p:sp>
      <p:sp>
        <p:nvSpPr>
          <p:cNvPr id="20" name="barrier 3 circle"/>
          <p:cNvSpPr/>
          <p:nvPr/>
        </p:nvSpPr>
        <p:spPr>
          <a:xfrm>
            <a:off x="457200" y="3273552"/>
            <a:ext cx="566928" cy="566928"/>
          </a:xfrm>
          <a:prstGeom prst="ellipse">
            <a:avLst/>
          </a:prstGeom>
          <a:solidFill>
            <a:schemeClr val="accent3"/>
          </a:solidFill>
          <a:ln w="12700">
            <a:solidFill>
              <a:schemeClr val="accent3"/>
            </a:solidFill>
            <a:prstDash val="solid"/>
          </a:ln>
        </p:spPr>
      </p:sp>
      <p:pic>
        <p:nvPicPr>
          <p:cNvPr id="21" name="barrier 3 icon" descr="preencoded.png">    </p:cNvPr>
          <p:cNvPicPr>
            <a:picLocks noChangeAspect="1"/>
          </p:cNvPicPr>
          <p:nvPr/>
        </p:nvPicPr>
        <p:blipFill>
          <a:blip r:embed="rId3"/>
          <a:stretch>
            <a:fillRect/>
          </a:stretch>
        </p:blipFill>
        <p:spPr>
          <a:xfrm>
            <a:off x="593263" y="3409615"/>
            <a:ext cx="294803" cy="294803"/>
          </a:xfrm>
          <a:prstGeom prst="rect">
            <a:avLst/>
          </a:prstGeom>
        </p:spPr>
      </p:pic>
      <p:sp>
        <p:nvSpPr>
          <p:cNvPr id="22" name="barrier title 3"/>
          <p:cNvSpPr txBox="1"/>
          <p:nvPr/>
        </p:nvSpPr>
        <p:spPr>
          <a:xfrm>
            <a:off x="1170432" y="3291840"/>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Big data lives outside GIS</a:t>
            </a:r>
            <a:endParaRPr lang="en-US" sz="1500" dirty="0"/>
          </a:p>
        </p:txBody>
      </p:sp>
      <p:sp>
        <p:nvSpPr>
          <p:cNvPr id="23" name="barrier text 3"/>
          <p:cNvSpPr txBox="1"/>
          <p:nvPr/>
        </p:nvSpPr>
        <p:spPr>
          <a:xfrm>
            <a:off x="1170432" y="3584448"/>
            <a:ext cx="3337560" cy="292608"/>
          </a:xfrm>
          <a:prstGeom prst="rect">
            <a:avLst/>
          </a:prstGeom>
          <a:noFill/>
          <a:ln/>
        </p:spPr>
        <p:txBody>
          <a:bodyPr wrap="square" lIns="0" tIns="0" rIns="0" bIns="0" rtlCol="0" anchor="ctr"/>
          <a:lstStyle/>
          <a:p>
            <a:pPr indent="0" marL="0">
              <a:buNone/>
            </a:pPr>
            <a:r>
              <a:rPr lang="en-US" sz="1150" dirty="0">
                <a:solidFill>
                  <a:schemeClr val="accent6"/>
                </a:solidFill>
              </a:rPr>
              <a:t>Spark-style analytics need code, clusters and data engineering</a:t>
            </a:r>
            <a:endParaRPr lang="en-US" sz="1150" dirty="0"/>
          </a:p>
        </p:txBody>
      </p:sp>
      <p:sp>
        <p:nvSpPr>
          <p:cNvPr id="24" name="barrier 4 circle"/>
          <p:cNvSpPr/>
          <p:nvPr/>
        </p:nvSpPr>
        <p:spPr>
          <a:xfrm>
            <a:off x="4663440" y="3273552"/>
            <a:ext cx="566928" cy="566928"/>
          </a:xfrm>
          <a:prstGeom prst="ellipse">
            <a:avLst/>
          </a:prstGeom>
          <a:solidFill>
            <a:schemeClr val="accent5"/>
          </a:solidFill>
          <a:ln w="12700">
            <a:solidFill>
              <a:schemeClr val="accent5"/>
            </a:solidFill>
            <a:prstDash val="solid"/>
          </a:ln>
        </p:spPr>
      </p:sp>
      <p:pic>
        <p:nvPicPr>
          <p:cNvPr id="25" name="barrier 4 icon" descr="preencoded.png">    </p:cNvPr>
          <p:cNvPicPr>
            <a:picLocks noChangeAspect="1"/>
          </p:cNvPicPr>
          <p:nvPr/>
        </p:nvPicPr>
        <p:blipFill>
          <a:blip r:embed="rId4"/>
          <a:stretch>
            <a:fillRect/>
          </a:stretch>
        </p:blipFill>
        <p:spPr>
          <a:xfrm>
            <a:off x="4799503" y="3409615"/>
            <a:ext cx="294803" cy="294803"/>
          </a:xfrm>
          <a:prstGeom prst="rect">
            <a:avLst/>
          </a:prstGeom>
        </p:spPr>
      </p:pic>
      <p:sp>
        <p:nvSpPr>
          <p:cNvPr id="26" name="barrier title 4"/>
          <p:cNvSpPr txBox="1"/>
          <p:nvPr/>
        </p:nvSpPr>
        <p:spPr>
          <a:xfrm>
            <a:off x="5376672" y="3291840"/>
            <a:ext cx="3291840" cy="292608"/>
          </a:xfrm>
          <a:prstGeom prst="rect">
            <a:avLst/>
          </a:prstGeom>
          <a:noFill/>
          <a:ln/>
        </p:spPr>
        <p:txBody>
          <a:bodyPr wrap="square" lIns="0" tIns="0" rIns="0" bIns="0" rtlCol="0" anchor="ctr"/>
          <a:lstStyle/>
          <a:p>
            <a:pPr indent="0" marL="0">
              <a:buNone/>
            </a:pPr>
            <a:r>
              <a:rPr lang="en-US" sz="1500" b="1" dirty="0">
                <a:solidFill>
                  <a:schemeClr val="tx1"/>
                </a:solidFill>
              </a:rPr>
              <a:t>ML needs labels and scripting</a:t>
            </a:r>
            <a:endParaRPr lang="en-US" sz="1500" dirty="0"/>
          </a:p>
        </p:txBody>
      </p:sp>
      <p:sp>
        <p:nvSpPr>
          <p:cNvPr id="27" name="barrier text 4"/>
          <p:cNvSpPr txBox="1"/>
          <p:nvPr/>
        </p:nvSpPr>
        <p:spPr>
          <a:xfrm>
            <a:off x="5376672" y="3584448"/>
            <a:ext cx="3337560" cy="292608"/>
          </a:xfrm>
          <a:prstGeom prst="rect">
            <a:avLst/>
          </a:prstGeom>
          <a:noFill/>
          <a:ln/>
        </p:spPr>
        <p:txBody>
          <a:bodyPr wrap="square" lIns="0" tIns="0" rIns="0" bIns="0" rtlCol="0" anchor="ctr"/>
          <a:lstStyle/>
          <a:p>
            <a:pPr indent="0" marL="0">
              <a:buNone/>
            </a:pPr>
            <a:r>
              <a:rPr lang="en-US" sz="1150" dirty="0">
                <a:solidFill>
                  <a:schemeClr val="accent6"/>
                </a:solidFill>
              </a:rPr>
              <a:t>Many users never go beyond a single index such as NDVI</a:t>
            </a:r>
            <a:endParaRPr lang="en-US" sz="1150" dirty="0"/>
          </a:p>
        </p:txBody>
      </p:sp>
      <p:sp>
        <p:nvSpPr>
          <p:cNvPr id="28" name="goal"/>
          <p:cNvSpPr txBox="1"/>
          <p:nvPr/>
        </p:nvSpPr>
        <p:spPr>
          <a:xfrm>
            <a:off x="457200" y="4224528"/>
            <a:ext cx="8229600" cy="365760"/>
          </a:xfrm>
          <a:prstGeom prst="rect">
            <a:avLst/>
          </a:prstGeom>
          <a:noFill/>
          <a:ln/>
        </p:spPr>
        <p:txBody>
          <a:bodyPr wrap="square" lIns="0" tIns="0" rIns="0" bIns="0" rtlCol="0" anchor="ctr"/>
          <a:lstStyle/>
          <a:p>
            <a:pPr indent="0" marL="0">
              <a:buNone/>
            </a:pPr>
            <a:r>
              <a:rPr lang="en-US" sz="1400" i="1" dirty="0">
                <a:solidFill>
                  <a:schemeClr val="tx2"/>
                </a:solidFill>
              </a:rPr>
              <a:t>Goal: full-scene hyperspectral analytics inside QGIS — on the computer you already have, with no code and no cloud.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Data and geospatial layers</a:t>
            </a:r>
            <a:endParaRPr lang="en-US" sz="3000" dirty="0"/>
          </a:p>
        </p:txBody>
      </p:sp>
      <p:pic>
        <p:nvPicPr>
          <p:cNvPr id="3" name="EnMAP true colour" descr="/private/tmp/claude-501/-Users-aaronr-Desktop-SPATIAL/d5228ef4-29fa-4ce0-ab20-8d4b5286282d/scratchpad/deliv/slide_truecolor.png">    </p:cNvPr>
          <p:cNvPicPr>
            <a:picLocks noChangeAspect="1"/>
          </p:cNvPicPr>
          <p:nvPr/>
        </p:nvPicPr>
        <p:blipFill>
          <a:blip r:embed="rId1"/>
          <a:stretch>
            <a:fillRect/>
          </a:stretch>
        </p:blipFill>
        <p:spPr>
          <a:xfrm>
            <a:off x="457200" y="1051560"/>
            <a:ext cx="3358055" cy="3246120"/>
          </a:xfrm>
          <a:prstGeom prst="rect">
            <a:avLst/>
          </a:prstGeom>
        </p:spPr>
      </p:pic>
      <p:sp>
        <p:nvSpPr>
          <p:cNvPr id="4" name="scene caption"/>
          <p:cNvSpPr txBox="1"/>
          <p:nvPr/>
        </p:nvSpPr>
        <p:spPr>
          <a:xfrm>
            <a:off x="457200" y="4315968"/>
            <a:ext cx="3566160" cy="411480"/>
          </a:xfrm>
          <a:prstGeom prst="rect">
            <a:avLst/>
          </a:prstGeom>
          <a:noFill/>
          <a:ln/>
        </p:spPr>
        <p:txBody>
          <a:bodyPr wrap="square" lIns="0" tIns="0" rIns="0" bIns="0" rtlCol="0" anchor="ctr"/>
          <a:lstStyle/>
          <a:p>
            <a:pPr indent="0" marL="0">
              <a:buNone/>
            </a:pPr>
            <a:r>
              <a:rPr lang="en-US" sz="1000" dirty="0">
                <a:solidFill>
                  <a:schemeClr val="accent6"/>
                </a:solidFill>
              </a:rPr>
              <a:t>EnMAP L2A · Tyrolean Alps · 12 Jun 2022 · 30 m · UTM 32N</a:t>
            </a:r>
            <a:endParaRPr lang="en-US" sz="1000" dirty="0"/>
          </a:p>
          <a:p>
            <a:pPr indent="0" marL="0">
              <a:buNone/>
            </a:pPr>
            <a:r>
              <a:rPr lang="en-US" sz="1000" dirty="0">
                <a:solidFill>
                  <a:schemeClr val="accent6"/>
                </a:solidFill>
              </a:rPr>
              <a:t>224 bands (418–2446 nm) · Int16 × 10 000 · 686 MB</a:t>
            </a:r>
            <a:endParaRPr lang="en-US" sz="1000" dirty="0"/>
          </a:p>
        </p:txBody>
      </p:sp>
      <p:graphicFrame>
        <p:nvGraphicFramePr>
          <p:cNvPr id="4" name="layers table"/>
          <p:cNvGraphicFramePr>
            <a:graphicFrameLocks noGrp="1"/>
          </p:cNvGraphicFramePr>
          <p:nvPr>
            <p:extLst>
              <p:ext uri="{D42A27DB-BD31-4B8C-83A1-F6EECF244321}">
                <p14:modId xmlns:p14="http://schemas.microsoft.com/office/powerpoint/2010/main" val="1579011935"/>
              </p:ext>
            </p:extLst>
          </p:nvPr>
        </p:nvGraphicFramePr>
        <p:xfrm>
          <a:off x="4069080" y="1051560"/>
          <a:ext cx="4617720" cy="914400"/>
        </p:xfrm>
        <a:graphic>
          <a:graphicData uri="http://schemas.openxmlformats.org/drawingml/2006/table">
            <a:tbl>
              <a:tblPr/>
              <a:tblGrid>
                <a:gridCol w="1554480"/>
                <a:gridCol w="1463040"/>
                <a:gridCol w="1600200"/>
              </a:tblGrid>
              <a:tr h="457200">
                <a:tc>
                  <a:txBody>
                    <a:bodyPr/>
                    <a:lstStyle/>
                    <a:p>
                      <a:pPr indent="0" marL="0">
                        <a:buNone/>
                      </a:pPr>
                      <a:r>
                        <a:rPr lang="en-US" sz="1200" b="1" dirty="0">
                          <a:solidFill>
                            <a:schemeClr val="bg1"/>
                          </a:solidFill>
                        </a:rPr>
                        <a:t>Layer</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Type · source</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Intended use</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solidFill>
                      <a:schemeClr val="tx2"/>
                    </a:solidFill>
                  </a:tcPr>
                </a:tc>
              </a:tr>
              <a:tr h="457200">
                <a:tc>
                  <a:txBody>
                    <a:bodyPr/>
                    <a:lstStyle/>
                    <a:p>
                      <a:pPr indent="0" marL="0">
                        <a:buNone/>
                      </a:pPr>
                      <a:r>
                        <a:rPr lang="en-US" sz="1200" dirty="0">
                          <a:solidFill>
                            <a:schemeClr val="tx1"/>
                          </a:solidFill>
                        </a:rPr>
                        <a:t>Spectral image cube</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Raster · DLR EnMAP L2A</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Input to all processing</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r>
              <a:tr h="457200">
                <a:tc>
                  <a:txBody>
                    <a:bodyPr/>
                    <a:lstStyle/>
                    <a:p>
                      <a:pPr indent="0" marL="0">
                        <a:buNone/>
                      </a:pPr>
                      <a:r>
                        <a:rPr lang="en-US" sz="1200" dirty="0">
                          <a:solidFill>
                            <a:schemeClr val="tx1"/>
                          </a:solidFill>
                        </a:rPr>
                        <a:t>Quality masks (8)</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Raster · DLR, with scene</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Validation reference</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r>
              <a:tr h="457200">
                <a:tc>
                  <a:txBody>
                    <a:bodyPr/>
                    <a:lstStyle/>
                    <a:p>
                      <a:pPr indent="0" marL="0">
                        <a:buNone/>
                      </a:pPr>
                      <a:r>
                        <a:rPr lang="en-US" sz="1200" dirty="0">
                          <a:solidFill>
                            <a:schemeClr val="tx1"/>
                          </a:solidFill>
                        </a:rPr>
                        <a:t>Metadata, ENVI header</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Non-spatial · DLR</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Wavelengths, scaling, no-data</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r>
              <a:tr h="457200">
                <a:tc>
                  <a:txBody>
                    <a:bodyPr/>
                    <a:lstStyle/>
                    <a:p>
                      <a:pPr indent="0" marL="0">
                        <a:buNone/>
                      </a:pPr>
                      <a:r>
                        <a:rPr lang="en-US" sz="1200" dirty="0">
                          <a:solidFill>
                            <a:schemeClr val="tx1"/>
                          </a:solidFill>
                        </a:rPr>
                        <a:t>AOI / field polygons</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Vector · QGIS / authorities</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Q1 AOI and Q2 zone statistics</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r>
              <a:tr h="457200">
                <a:tc>
                  <a:txBody>
                    <a:bodyPr/>
                    <a:lstStyle/>
                    <a:p>
                      <a:pPr indent="0" marL="0">
                        <a:buNone/>
                      </a:pPr>
                      <a:r>
                        <a:rPr lang="en-US" sz="1200" dirty="0">
                          <a:solidFill>
                            <a:schemeClr val="tx1"/>
                          </a:solidFill>
                        </a:rPr>
                        <a:t>Derived rasters</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Raster · engine, Spark</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Indices, PCA, SAM, class maps</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r>
              <a:tr h="457200">
                <a:tc>
                  <a:txBody>
                    <a:bodyPr/>
                    <a:lstStyle/>
                    <a:p>
                      <a:pPr indent="0" marL="0">
                        <a:buNone/>
                      </a:pPr>
                      <a:r>
                        <a:rPr lang="en-US" sz="1200" dirty="0">
                          <a:solidFill>
                            <a:schemeClr val="tx1"/>
                          </a:solidFill>
                        </a:rPr>
                        <a:t>Result tables</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Non-spatial CSV · Spark</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c>
                  <a:txBody>
                    <a:bodyPr/>
                    <a:lstStyle/>
                    <a:p>
                      <a:pPr indent="0" marL="0">
                        <a:buNone/>
                      </a:pPr>
                      <a:r>
                        <a:rPr lang="en-US" sz="1200" dirty="0">
                          <a:solidFill>
                            <a:schemeClr val="tx1"/>
                          </a:solidFill>
                        </a:rPr>
                        <a:t>Statistics, cluster legend</a:t>
                      </a:r>
                      <a:endParaRPr lang="en-US" sz="1200" dirty="0"/>
                    </a:p>
                  </a:txBody>
                  <a:tcPr marL="54864" marR="54864" marT="54864" marB="54864" anchor="ctr">
                    <a:lnL w="9525" cap="flat" cmpd="sng" algn="ctr">
                      <a:solidFill>
                        <a:srgbClr val="D9D8D3"/>
                      </a:solidFill>
                      <a:prstDash val="solid"/>
                      <a:round/>
                      <a:headEnd type="none" w="med" len="med"/>
                      <a:tailEnd type="none" w="med" len="med"/>
                    </a:lnL>
                    <a:lnR w="9525" cap="flat" cmpd="sng" algn="ctr">
                      <a:solidFill>
                        <a:srgbClr val="D9D8D3"/>
                      </a:solidFill>
                      <a:prstDash val="solid"/>
                      <a:round/>
                      <a:headEnd type="none" w="med" len="med"/>
                      <a:tailEnd type="none" w="med" len="med"/>
                    </a:lnR>
                    <a:lnT w="9525" cap="flat" cmpd="sng" algn="ctr">
                      <a:solidFill>
                        <a:srgbClr val="D9D8D3"/>
                      </a:solidFill>
                      <a:prstDash val="solid"/>
                      <a:round/>
                      <a:headEnd type="none" w="med" len="med"/>
                      <a:tailEnd type="none" w="med" len="med"/>
                    </a:lnT>
                    <a:lnB w="9525" cap="flat" cmpd="sng" algn="ctr">
                      <a:solidFill>
                        <a:srgbClr val="D9D8D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Interactive and dynamic functionalities</a:t>
            </a:r>
            <a:endParaRPr lang="en-US" sz="3000" dirty="0"/>
          </a:p>
        </p:txBody>
      </p:sp>
      <p:pic>
        <p:nvPicPr>
          <p:cNvPr id="3" name="processing dialog" descr="/Users/aaronr/Desktop/SPATIAL/hyperspatial-bigdata/docs/deliverables/figures/ui_processing_indices.png">    </p:cNvPr>
          <p:cNvPicPr>
            <a:picLocks noChangeAspect="1"/>
          </p:cNvPicPr>
          <p:nvPr/>
        </p:nvPicPr>
        <p:blipFill>
          <a:blip r:embed="rId1"/>
          <a:stretch>
            <a:fillRect/>
          </a:stretch>
        </p:blipFill>
        <p:spPr>
          <a:xfrm>
            <a:off x="457200" y="1024128"/>
            <a:ext cx="2652963" cy="2240280"/>
          </a:xfrm>
          <a:prstGeom prst="rect">
            <a:avLst/>
          </a:prstGeom>
        </p:spPr>
      </p:pic>
      <p:pic>
        <p:nvPicPr>
          <p:cNvPr id="4" name="analytics dialog" descr="/Users/aaronr/Desktop/SPATIAL/hyperspatial-bigdata/docs/deliverables/figures/ui_analytics_dialog.png">    </p:cNvPr>
          <p:cNvPicPr>
            <a:picLocks noChangeAspect="1"/>
          </p:cNvPicPr>
          <p:nvPr/>
        </p:nvPicPr>
        <p:blipFill>
          <a:blip r:embed="rId2"/>
          <a:stretch>
            <a:fillRect/>
          </a:stretch>
        </p:blipFill>
        <p:spPr>
          <a:xfrm>
            <a:off x="3293043" y="1024128"/>
            <a:ext cx="3033713" cy="2240280"/>
          </a:xfrm>
          <a:prstGeom prst="rect">
            <a:avLst/>
          </a:prstGeom>
        </p:spPr>
      </p:pic>
      <p:pic>
        <p:nvPicPr>
          <p:cNvPr id="5" name="result canvas" descr="/Users/aaronr/Desktop/SPATIAL/hyperspatial-bigdata/docs/deliverables/figures/ui_analytics_kmeans_canvas.png">    </p:cNvPr>
          <p:cNvPicPr>
            <a:picLocks noChangeAspect="1"/>
          </p:cNvPicPr>
          <p:nvPr/>
        </p:nvPicPr>
        <p:blipFill>
          <a:blip r:embed="rId3"/>
          <a:stretch>
            <a:fillRect/>
          </a:stretch>
        </p:blipFill>
        <p:spPr>
          <a:xfrm>
            <a:off x="6509636" y="1024128"/>
            <a:ext cx="2177164" cy="1299275"/>
          </a:xfrm>
          <a:prstGeom prst="rect">
            <a:avLst/>
          </a:prstGeom>
        </p:spPr>
      </p:pic>
      <p:sp>
        <p:nvSpPr>
          <p:cNvPr id="6" name="canvas caption"/>
          <p:cNvSpPr txBox="1"/>
          <p:nvPr/>
        </p:nvSpPr>
        <p:spPr>
          <a:xfrm>
            <a:off x="6509636" y="2396555"/>
            <a:ext cx="2177164" cy="548640"/>
          </a:xfrm>
          <a:prstGeom prst="rect">
            <a:avLst/>
          </a:prstGeom>
          <a:noFill/>
          <a:ln/>
        </p:spPr>
        <p:txBody>
          <a:bodyPr wrap="square" lIns="0" tIns="0" rIns="0" bIns="0" rtlCol="0" anchor="ctr"/>
          <a:lstStyle/>
          <a:p>
            <a:pPr indent="0" marL="0">
              <a:buNone/>
            </a:pPr>
            <a:r>
              <a:rPr lang="en-US" sz="1050" i="1" dirty="0">
                <a:solidFill>
                  <a:schemeClr val="accent6"/>
                </a:solidFill>
              </a:rPr>
              <a:t>Results return to the QGIS canvas as styled layers with legends</a:t>
            </a:r>
            <a:endParaRPr lang="en-US" sz="1050" dirty="0"/>
          </a:p>
        </p:txBody>
      </p:sp>
      <p:sp>
        <p:nvSpPr>
          <p:cNvPr id="7" name="feature 1 circle"/>
          <p:cNvSpPr/>
          <p:nvPr/>
        </p:nvSpPr>
        <p:spPr>
          <a:xfrm>
            <a:off x="457200" y="3493008"/>
            <a:ext cx="475488" cy="475488"/>
          </a:xfrm>
          <a:prstGeom prst="ellipse">
            <a:avLst/>
          </a:prstGeom>
          <a:solidFill>
            <a:schemeClr val="accent1"/>
          </a:solidFill>
          <a:ln w="12700">
            <a:solidFill>
              <a:schemeClr val="accent1"/>
            </a:solidFill>
            <a:prstDash val="solid"/>
          </a:ln>
        </p:spPr>
      </p:sp>
      <p:pic>
        <p:nvPicPr>
          <p:cNvPr id="8" name="feature 1 icon" descr="preencoded.png">    </p:cNvPr>
          <p:cNvPicPr>
            <a:picLocks noChangeAspect="1"/>
          </p:cNvPicPr>
          <p:nvPr/>
        </p:nvPicPr>
        <p:blipFill>
          <a:blip r:embed="rId4"/>
          <a:stretch>
            <a:fillRect/>
          </a:stretch>
        </p:blipFill>
        <p:spPr>
          <a:xfrm>
            <a:off x="571317" y="3607125"/>
            <a:ext cx="247254" cy="247254"/>
          </a:xfrm>
          <a:prstGeom prst="rect">
            <a:avLst/>
          </a:prstGeom>
        </p:spPr>
      </p:pic>
      <p:sp>
        <p:nvSpPr>
          <p:cNvPr id="9" name="feature title 1"/>
          <p:cNvSpPr txBox="1"/>
          <p:nvPr/>
        </p:nvSpPr>
        <p:spPr>
          <a:xfrm>
            <a:off x="1042416" y="3493008"/>
            <a:ext cx="2148840" cy="256032"/>
          </a:xfrm>
          <a:prstGeom prst="rect">
            <a:avLst/>
          </a:prstGeom>
          <a:noFill/>
          <a:ln/>
        </p:spPr>
        <p:txBody>
          <a:bodyPr wrap="square" lIns="0" tIns="0" rIns="0" bIns="0" rtlCol="0" anchor="ctr"/>
          <a:lstStyle/>
          <a:p>
            <a:pPr indent="0" marL="0">
              <a:buNone/>
            </a:pPr>
            <a:r>
              <a:rPr lang="en-US" sz="1300" b="1" dirty="0">
                <a:solidFill>
                  <a:schemeClr val="tx1"/>
                </a:solidFill>
              </a:rPr>
              <a:t>Click-to-detect</a:t>
            </a:r>
            <a:endParaRPr lang="en-US" sz="1300" dirty="0"/>
          </a:p>
        </p:txBody>
      </p:sp>
      <p:sp>
        <p:nvSpPr>
          <p:cNvPr id="10" name="feature text 1"/>
          <p:cNvSpPr txBox="1"/>
          <p:nvPr/>
        </p:nvSpPr>
        <p:spPr>
          <a:xfrm>
            <a:off x="1042416" y="3758184"/>
            <a:ext cx="2176272" cy="219456"/>
          </a:xfrm>
          <a:prstGeom prst="rect">
            <a:avLst/>
          </a:prstGeom>
          <a:noFill/>
          <a:ln/>
        </p:spPr>
        <p:txBody>
          <a:bodyPr wrap="square" lIns="0" tIns="0" rIns="0" bIns="0" rtlCol="0" anchor="t"/>
          <a:lstStyle/>
          <a:p>
            <a:pPr indent="0" marL="0">
              <a:buNone/>
            </a:pPr>
            <a:r>
              <a:rPr lang="en-US" sz="1050" dirty="0">
                <a:solidFill>
                  <a:schemeClr val="accent6"/>
                </a:solidFill>
              </a:rPr>
              <a:t>Pick a pixel; SAM finds similar material</a:t>
            </a:r>
            <a:endParaRPr lang="en-US" sz="1050" dirty="0"/>
          </a:p>
        </p:txBody>
      </p:sp>
      <p:sp>
        <p:nvSpPr>
          <p:cNvPr id="11" name="feature 2 circle"/>
          <p:cNvSpPr/>
          <p:nvPr/>
        </p:nvSpPr>
        <p:spPr>
          <a:xfrm>
            <a:off x="3246120" y="3493008"/>
            <a:ext cx="475488" cy="475488"/>
          </a:xfrm>
          <a:prstGeom prst="ellipse">
            <a:avLst/>
          </a:prstGeom>
          <a:solidFill>
            <a:schemeClr val="accent2"/>
          </a:solidFill>
          <a:ln w="12700">
            <a:solidFill>
              <a:schemeClr val="accent2"/>
            </a:solidFill>
            <a:prstDash val="solid"/>
          </a:ln>
        </p:spPr>
      </p:sp>
      <p:pic>
        <p:nvPicPr>
          <p:cNvPr id="12" name="feature 2 icon" descr="preencoded.png">    </p:cNvPr>
          <p:cNvPicPr>
            <a:picLocks noChangeAspect="1"/>
          </p:cNvPicPr>
          <p:nvPr/>
        </p:nvPicPr>
        <p:blipFill>
          <a:blip r:embed="rId5"/>
          <a:stretch>
            <a:fillRect/>
          </a:stretch>
        </p:blipFill>
        <p:spPr>
          <a:xfrm>
            <a:off x="3360237" y="3607125"/>
            <a:ext cx="247254" cy="247254"/>
          </a:xfrm>
          <a:prstGeom prst="rect">
            <a:avLst/>
          </a:prstGeom>
        </p:spPr>
      </p:pic>
      <p:sp>
        <p:nvSpPr>
          <p:cNvPr id="13" name="feature title 2"/>
          <p:cNvSpPr txBox="1"/>
          <p:nvPr/>
        </p:nvSpPr>
        <p:spPr>
          <a:xfrm>
            <a:off x="3831336" y="3493008"/>
            <a:ext cx="2148840" cy="256032"/>
          </a:xfrm>
          <a:prstGeom prst="rect">
            <a:avLst/>
          </a:prstGeom>
          <a:noFill/>
          <a:ln/>
        </p:spPr>
        <p:txBody>
          <a:bodyPr wrap="square" lIns="0" tIns="0" rIns="0" bIns="0" rtlCol="0" anchor="ctr"/>
          <a:lstStyle/>
          <a:p>
            <a:pPr indent="0" marL="0">
              <a:buNone/>
            </a:pPr>
            <a:r>
              <a:rPr lang="en-US" sz="1300" b="1" dirty="0">
                <a:solidFill>
                  <a:schemeClr val="tx1"/>
                </a:solidFill>
              </a:rPr>
              <a:t>CPU or GPU</a:t>
            </a:r>
            <a:endParaRPr lang="en-US" sz="1300" dirty="0"/>
          </a:p>
        </p:txBody>
      </p:sp>
      <p:sp>
        <p:nvSpPr>
          <p:cNvPr id="14" name="feature text 2"/>
          <p:cNvSpPr txBox="1"/>
          <p:nvPr/>
        </p:nvSpPr>
        <p:spPr>
          <a:xfrm>
            <a:off x="3831336" y="3758184"/>
            <a:ext cx="2176272" cy="219456"/>
          </a:xfrm>
          <a:prstGeom prst="rect">
            <a:avLst/>
          </a:prstGeom>
          <a:noFill/>
          <a:ln/>
        </p:spPr>
        <p:txBody>
          <a:bodyPr wrap="square" lIns="0" tIns="0" rIns="0" bIns="0" rtlCol="0" anchor="t"/>
          <a:lstStyle/>
          <a:p>
            <a:pPr indent="0" marL="0">
              <a:buNone/>
            </a:pPr>
            <a:r>
              <a:rPr lang="en-US" sz="1050" dirty="0">
                <a:solidFill>
                  <a:schemeClr val="accent6"/>
                </a:solidFill>
              </a:rPr>
              <a:t>OpenMP or OpenCL, automatic fallback</a:t>
            </a:r>
            <a:endParaRPr lang="en-US" sz="1050" dirty="0"/>
          </a:p>
        </p:txBody>
      </p:sp>
      <p:sp>
        <p:nvSpPr>
          <p:cNvPr id="15" name="feature 3 circle"/>
          <p:cNvSpPr/>
          <p:nvPr/>
        </p:nvSpPr>
        <p:spPr>
          <a:xfrm>
            <a:off x="6035040" y="3493008"/>
            <a:ext cx="475488" cy="475488"/>
          </a:xfrm>
          <a:prstGeom prst="ellipse">
            <a:avLst/>
          </a:prstGeom>
          <a:solidFill>
            <a:schemeClr val="accent3"/>
          </a:solidFill>
          <a:ln w="12700">
            <a:solidFill>
              <a:schemeClr val="accent3"/>
            </a:solidFill>
            <a:prstDash val="solid"/>
          </a:ln>
        </p:spPr>
      </p:sp>
      <p:pic>
        <p:nvPicPr>
          <p:cNvPr id="16" name="feature 3 icon" descr="preencoded.png">    </p:cNvPr>
          <p:cNvPicPr>
            <a:picLocks noChangeAspect="1"/>
          </p:cNvPicPr>
          <p:nvPr/>
        </p:nvPicPr>
        <p:blipFill>
          <a:blip r:embed="rId6"/>
          <a:stretch>
            <a:fillRect/>
          </a:stretch>
        </p:blipFill>
        <p:spPr>
          <a:xfrm>
            <a:off x="6149157" y="3607125"/>
            <a:ext cx="247254" cy="247254"/>
          </a:xfrm>
          <a:prstGeom prst="rect">
            <a:avLst/>
          </a:prstGeom>
        </p:spPr>
      </p:pic>
      <p:sp>
        <p:nvSpPr>
          <p:cNvPr id="17" name="feature title 3"/>
          <p:cNvSpPr txBox="1"/>
          <p:nvPr/>
        </p:nvSpPr>
        <p:spPr>
          <a:xfrm>
            <a:off x="6620256" y="3493008"/>
            <a:ext cx="2148840" cy="256032"/>
          </a:xfrm>
          <a:prstGeom prst="rect">
            <a:avLst/>
          </a:prstGeom>
          <a:noFill/>
          <a:ln/>
        </p:spPr>
        <p:txBody>
          <a:bodyPr wrap="square" lIns="0" tIns="0" rIns="0" bIns="0" rtlCol="0" anchor="ctr"/>
          <a:lstStyle/>
          <a:p>
            <a:pPr indent="0" marL="0">
              <a:buNone/>
            </a:pPr>
            <a:r>
              <a:rPr lang="en-US" sz="1300" b="1" dirty="0">
                <a:solidFill>
                  <a:schemeClr val="tx1"/>
                </a:solidFill>
              </a:rPr>
              <a:t>Live and non-blocking</a:t>
            </a:r>
            <a:endParaRPr lang="en-US" sz="1300" dirty="0"/>
          </a:p>
        </p:txBody>
      </p:sp>
      <p:sp>
        <p:nvSpPr>
          <p:cNvPr id="18" name="feature text 3"/>
          <p:cNvSpPr txBox="1"/>
          <p:nvPr/>
        </p:nvSpPr>
        <p:spPr>
          <a:xfrm>
            <a:off x="6620256" y="3758184"/>
            <a:ext cx="2176272" cy="219456"/>
          </a:xfrm>
          <a:prstGeom prst="rect">
            <a:avLst/>
          </a:prstGeom>
          <a:noFill/>
          <a:ln/>
        </p:spPr>
        <p:txBody>
          <a:bodyPr wrap="square" lIns="0" tIns="0" rIns="0" bIns="0" rtlCol="0" anchor="t"/>
          <a:lstStyle/>
          <a:p>
            <a:pPr indent="0" marL="0">
              <a:buNone/>
            </a:pPr>
            <a:r>
              <a:rPr lang="en-US" sz="1050" dirty="0">
                <a:solidFill>
                  <a:schemeClr val="accent6"/>
                </a:solidFill>
              </a:rPr>
              <a:t>Live log; QGIS stays responsive</a:t>
            </a:r>
            <a:endParaRPr lang="en-US" sz="1050" dirty="0"/>
          </a:p>
        </p:txBody>
      </p:sp>
      <p:sp>
        <p:nvSpPr>
          <p:cNvPr id="19" name="feature 4 circle"/>
          <p:cNvSpPr/>
          <p:nvPr/>
        </p:nvSpPr>
        <p:spPr>
          <a:xfrm>
            <a:off x="457200" y="4114800"/>
            <a:ext cx="475488" cy="475488"/>
          </a:xfrm>
          <a:prstGeom prst="ellipse">
            <a:avLst/>
          </a:prstGeom>
          <a:solidFill>
            <a:schemeClr val="accent5"/>
          </a:solidFill>
          <a:ln w="12700">
            <a:solidFill>
              <a:schemeClr val="accent5"/>
            </a:solidFill>
            <a:prstDash val="solid"/>
          </a:ln>
        </p:spPr>
      </p:sp>
      <p:pic>
        <p:nvPicPr>
          <p:cNvPr id="20" name="feature 4 icon" descr="preencoded.png">    </p:cNvPr>
          <p:cNvPicPr>
            <a:picLocks noChangeAspect="1"/>
          </p:cNvPicPr>
          <p:nvPr/>
        </p:nvPicPr>
        <p:blipFill>
          <a:blip r:embed="rId7"/>
          <a:stretch>
            <a:fillRect/>
          </a:stretch>
        </p:blipFill>
        <p:spPr>
          <a:xfrm>
            <a:off x="571317" y="4228917"/>
            <a:ext cx="247254" cy="247254"/>
          </a:xfrm>
          <a:prstGeom prst="rect">
            <a:avLst/>
          </a:prstGeom>
        </p:spPr>
      </p:pic>
      <p:sp>
        <p:nvSpPr>
          <p:cNvPr id="21" name="feature title 4"/>
          <p:cNvSpPr txBox="1"/>
          <p:nvPr/>
        </p:nvSpPr>
        <p:spPr>
          <a:xfrm>
            <a:off x="1042416" y="4114800"/>
            <a:ext cx="2148840" cy="256032"/>
          </a:xfrm>
          <a:prstGeom prst="rect">
            <a:avLst/>
          </a:prstGeom>
          <a:noFill/>
          <a:ln/>
        </p:spPr>
        <p:txBody>
          <a:bodyPr wrap="square" lIns="0" tIns="0" rIns="0" bIns="0" rtlCol="0" anchor="ctr"/>
          <a:lstStyle/>
          <a:p>
            <a:pPr indent="0" marL="0">
              <a:buNone/>
            </a:pPr>
            <a:r>
              <a:rPr lang="en-US" sz="1300" b="1" dirty="0">
                <a:solidFill>
                  <a:schemeClr val="tx1"/>
                </a:solidFill>
              </a:rPr>
              <a:t>Auto-styled layers</a:t>
            </a:r>
            <a:endParaRPr lang="en-US" sz="1300" dirty="0"/>
          </a:p>
        </p:txBody>
      </p:sp>
      <p:sp>
        <p:nvSpPr>
          <p:cNvPr id="22" name="feature text 4"/>
          <p:cNvSpPr txBox="1"/>
          <p:nvPr/>
        </p:nvSpPr>
        <p:spPr>
          <a:xfrm>
            <a:off x="1042416" y="4379976"/>
            <a:ext cx="2176272" cy="219456"/>
          </a:xfrm>
          <a:prstGeom prst="rect">
            <a:avLst/>
          </a:prstGeom>
          <a:noFill/>
          <a:ln/>
        </p:spPr>
        <p:txBody>
          <a:bodyPr wrap="square" lIns="0" tIns="0" rIns="0" bIns="0" rtlCol="0" anchor="t"/>
          <a:lstStyle/>
          <a:p>
            <a:pPr indent="0" marL="0">
              <a:buNone/>
            </a:pPr>
            <a:r>
              <a:rPr lang="en-US" sz="1050" dirty="0">
                <a:solidFill>
                  <a:schemeClr val="accent6"/>
                </a:solidFill>
              </a:rPr>
              <a:t>Colour ramps, RGB and legends</a:t>
            </a:r>
            <a:endParaRPr lang="en-US" sz="1050" dirty="0"/>
          </a:p>
        </p:txBody>
      </p:sp>
      <p:sp>
        <p:nvSpPr>
          <p:cNvPr id="23" name="feature 5 circle"/>
          <p:cNvSpPr/>
          <p:nvPr/>
        </p:nvSpPr>
        <p:spPr>
          <a:xfrm>
            <a:off x="3246120" y="4114800"/>
            <a:ext cx="475488" cy="475488"/>
          </a:xfrm>
          <a:prstGeom prst="ellipse">
            <a:avLst/>
          </a:prstGeom>
          <a:solidFill>
            <a:schemeClr val="accent1"/>
          </a:solidFill>
          <a:ln w="12700">
            <a:solidFill>
              <a:schemeClr val="accent1"/>
            </a:solidFill>
            <a:prstDash val="solid"/>
          </a:ln>
        </p:spPr>
      </p:sp>
      <p:pic>
        <p:nvPicPr>
          <p:cNvPr id="24" name="feature 5 icon" descr="preencoded.png">    </p:cNvPr>
          <p:cNvPicPr>
            <a:picLocks noChangeAspect="1"/>
          </p:cNvPicPr>
          <p:nvPr/>
        </p:nvPicPr>
        <p:blipFill>
          <a:blip r:embed="rId8"/>
          <a:stretch>
            <a:fillRect/>
          </a:stretch>
        </p:blipFill>
        <p:spPr>
          <a:xfrm>
            <a:off x="3360237" y="4228917"/>
            <a:ext cx="247254" cy="247254"/>
          </a:xfrm>
          <a:prstGeom prst="rect">
            <a:avLst/>
          </a:prstGeom>
        </p:spPr>
      </p:pic>
      <p:sp>
        <p:nvSpPr>
          <p:cNvPr id="25" name="feature title 5"/>
          <p:cNvSpPr txBox="1"/>
          <p:nvPr/>
        </p:nvSpPr>
        <p:spPr>
          <a:xfrm>
            <a:off x="3831336" y="4114800"/>
            <a:ext cx="2148840" cy="256032"/>
          </a:xfrm>
          <a:prstGeom prst="rect">
            <a:avLst/>
          </a:prstGeom>
          <a:noFill/>
          <a:ln/>
        </p:spPr>
        <p:txBody>
          <a:bodyPr wrap="square" lIns="0" tIns="0" rIns="0" bIns="0" rtlCol="0" anchor="ctr"/>
          <a:lstStyle/>
          <a:p>
            <a:pPr indent="0" marL="0">
              <a:buNone/>
            </a:pPr>
            <a:r>
              <a:rPr lang="en-US" sz="1300" b="1" dirty="0">
                <a:solidFill>
                  <a:schemeClr val="tx1"/>
                </a:solidFill>
              </a:rPr>
              <a:t>Distributed queries</a:t>
            </a:r>
            <a:endParaRPr lang="en-US" sz="1300" dirty="0"/>
          </a:p>
        </p:txBody>
      </p:sp>
      <p:sp>
        <p:nvSpPr>
          <p:cNvPr id="26" name="feature text 5"/>
          <p:cNvSpPr txBox="1"/>
          <p:nvPr/>
        </p:nvSpPr>
        <p:spPr>
          <a:xfrm>
            <a:off x="3831336" y="4379976"/>
            <a:ext cx="2176272" cy="219456"/>
          </a:xfrm>
          <a:prstGeom prst="rect">
            <a:avLst/>
          </a:prstGeom>
          <a:noFill/>
          <a:ln/>
        </p:spPr>
        <p:txBody>
          <a:bodyPr wrap="square" lIns="0" tIns="0" rIns="0" bIns="0" rtlCol="0" anchor="t"/>
          <a:lstStyle/>
          <a:p>
            <a:pPr indent="0" marL="0">
              <a:buNone/>
            </a:pPr>
            <a:r>
              <a:rPr lang="en-US" sz="1050" dirty="0">
                <a:solidFill>
                  <a:schemeClr val="accent6"/>
                </a:solidFill>
              </a:rPr>
              <a:t>Q1–Q5 Spark + Sedona jobs</a:t>
            </a:r>
            <a:endParaRPr lang="en-US" sz="1050" dirty="0"/>
          </a:p>
        </p:txBody>
      </p:sp>
      <p:sp>
        <p:nvSpPr>
          <p:cNvPr id="27" name="feature 6 circle"/>
          <p:cNvSpPr/>
          <p:nvPr/>
        </p:nvSpPr>
        <p:spPr>
          <a:xfrm>
            <a:off x="6035040" y="4114800"/>
            <a:ext cx="475488" cy="475488"/>
          </a:xfrm>
          <a:prstGeom prst="ellipse">
            <a:avLst/>
          </a:prstGeom>
          <a:solidFill>
            <a:schemeClr val="accent2"/>
          </a:solidFill>
          <a:ln w="12700">
            <a:solidFill>
              <a:schemeClr val="accent2"/>
            </a:solidFill>
            <a:prstDash val="solid"/>
          </a:ln>
        </p:spPr>
      </p:sp>
      <p:pic>
        <p:nvPicPr>
          <p:cNvPr id="28" name="feature 6 icon" descr="preencoded.png">    </p:cNvPr>
          <p:cNvPicPr>
            <a:picLocks noChangeAspect="1"/>
          </p:cNvPicPr>
          <p:nvPr/>
        </p:nvPicPr>
        <p:blipFill>
          <a:blip r:embed="rId9"/>
          <a:stretch>
            <a:fillRect/>
          </a:stretch>
        </p:blipFill>
        <p:spPr>
          <a:xfrm>
            <a:off x="6149157" y="4228917"/>
            <a:ext cx="247254" cy="247254"/>
          </a:xfrm>
          <a:prstGeom prst="rect">
            <a:avLst/>
          </a:prstGeom>
        </p:spPr>
      </p:pic>
      <p:sp>
        <p:nvSpPr>
          <p:cNvPr id="29" name="feature title 6"/>
          <p:cNvSpPr txBox="1"/>
          <p:nvPr/>
        </p:nvSpPr>
        <p:spPr>
          <a:xfrm>
            <a:off x="6620256" y="4114800"/>
            <a:ext cx="2148840" cy="256032"/>
          </a:xfrm>
          <a:prstGeom prst="rect">
            <a:avLst/>
          </a:prstGeom>
          <a:noFill/>
          <a:ln/>
        </p:spPr>
        <p:txBody>
          <a:bodyPr wrap="square" lIns="0" tIns="0" rIns="0" bIns="0" rtlCol="0" anchor="ctr"/>
          <a:lstStyle/>
          <a:p>
            <a:pPr indent="0" marL="0">
              <a:buNone/>
            </a:pPr>
            <a:r>
              <a:rPr lang="en-US" sz="1300" b="1" dirty="0">
                <a:solidFill>
                  <a:schemeClr val="tx1"/>
                </a:solidFill>
              </a:rPr>
              <a:t>Tunable machine learning</a:t>
            </a:r>
            <a:endParaRPr lang="en-US" sz="1300" dirty="0"/>
          </a:p>
        </p:txBody>
      </p:sp>
      <p:sp>
        <p:nvSpPr>
          <p:cNvPr id="30" name="feature text 6"/>
          <p:cNvSpPr txBox="1"/>
          <p:nvPr/>
        </p:nvSpPr>
        <p:spPr>
          <a:xfrm>
            <a:off x="6620256" y="4379976"/>
            <a:ext cx="2176272" cy="219456"/>
          </a:xfrm>
          <a:prstGeom prst="rect">
            <a:avLst/>
          </a:prstGeom>
          <a:noFill/>
          <a:ln/>
        </p:spPr>
        <p:txBody>
          <a:bodyPr wrap="square" lIns="0" tIns="0" rIns="0" bIns="0" rtlCol="0" anchor="t"/>
          <a:lstStyle/>
          <a:p>
            <a:pPr indent="0" marL="0">
              <a:buNone/>
            </a:pPr>
            <a:r>
              <a:rPr lang="en-US" sz="1050" dirty="0">
                <a:solidFill>
                  <a:schemeClr val="accent6"/>
                </a:solidFill>
              </a:rPr>
              <a:t>Clusters, features, training sample</a:t>
            </a:r>
            <a:endParaRPr lang="en-US" sz="10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Relevance, beneficiaries and impact</a:t>
            </a:r>
            <a:endParaRPr lang="en-US" sz="3000" dirty="0"/>
          </a:p>
        </p:txBody>
      </p:sp>
      <p:sp>
        <p:nvSpPr>
          <p:cNvPr id="3" name="beneficiary card 1"/>
          <p:cNvSpPr/>
          <p:nvPr/>
        </p:nvSpPr>
        <p:spPr>
          <a:xfrm>
            <a:off x="457200" y="1051560"/>
            <a:ext cx="1920240" cy="1600200"/>
          </a:xfrm>
          <a:prstGeom prst="roundRect">
            <a:avLst>
              <a:gd name="adj" fmla="val 4571"/>
            </a:avLst>
          </a:prstGeom>
          <a:solidFill>
            <a:schemeClr val="bg2"/>
          </a:solidFill>
          <a:ln w="12700">
            <a:solidFill>
              <a:schemeClr val="bg2"/>
            </a:solidFill>
            <a:prstDash val="solid"/>
          </a:ln>
        </p:spPr>
      </p:sp>
      <p:sp>
        <p:nvSpPr>
          <p:cNvPr id="4" name="beneficiary 1 circle"/>
          <p:cNvSpPr/>
          <p:nvPr/>
        </p:nvSpPr>
        <p:spPr>
          <a:xfrm>
            <a:off x="621792" y="1188720"/>
            <a:ext cx="502920" cy="502920"/>
          </a:xfrm>
          <a:prstGeom prst="ellipse">
            <a:avLst/>
          </a:prstGeom>
          <a:solidFill>
            <a:schemeClr val="accent1"/>
          </a:solidFill>
          <a:ln w="12700">
            <a:solidFill>
              <a:schemeClr val="accent1"/>
            </a:solidFill>
            <a:prstDash val="solid"/>
          </a:ln>
        </p:spPr>
      </p:sp>
      <p:pic>
        <p:nvPicPr>
          <p:cNvPr id="5" name="beneficiary 1 icon" descr="preencoded.png">    </p:cNvPr>
          <p:cNvPicPr>
            <a:picLocks noChangeAspect="1"/>
          </p:cNvPicPr>
          <p:nvPr/>
        </p:nvPicPr>
        <p:blipFill>
          <a:blip r:embed="rId1"/>
          <a:stretch>
            <a:fillRect/>
          </a:stretch>
        </p:blipFill>
        <p:spPr>
          <a:xfrm>
            <a:off x="742493" y="1309421"/>
            <a:ext cx="261518" cy="261518"/>
          </a:xfrm>
          <a:prstGeom prst="rect">
            <a:avLst/>
          </a:prstGeom>
        </p:spPr>
      </p:pic>
      <p:sp>
        <p:nvSpPr>
          <p:cNvPr id="6" name="beneficiary title 1"/>
          <p:cNvSpPr txBox="1"/>
          <p:nvPr/>
        </p:nvSpPr>
        <p:spPr>
          <a:xfrm>
            <a:off x="621792" y="1764792"/>
            <a:ext cx="1645920" cy="420624"/>
          </a:xfrm>
          <a:prstGeom prst="rect">
            <a:avLst/>
          </a:prstGeom>
          <a:noFill/>
          <a:ln/>
        </p:spPr>
        <p:txBody>
          <a:bodyPr wrap="square" lIns="0" tIns="0" rIns="0" bIns="0" rtlCol="0" anchor="t"/>
          <a:lstStyle/>
          <a:p>
            <a:pPr indent="0" marL="0">
              <a:buNone/>
            </a:pPr>
            <a:r>
              <a:rPr lang="en-US" sz="1300" b="1" dirty="0">
                <a:solidFill>
                  <a:schemeClr val="tx1"/>
                </a:solidFill>
              </a:rPr>
              <a:t>Researchers and students</a:t>
            </a:r>
            <a:endParaRPr lang="en-US" sz="1300" dirty="0"/>
          </a:p>
        </p:txBody>
      </p:sp>
      <p:sp>
        <p:nvSpPr>
          <p:cNvPr id="7" name="beneficiary text 1"/>
          <p:cNvSpPr txBox="1"/>
          <p:nvPr/>
        </p:nvSpPr>
        <p:spPr>
          <a:xfrm>
            <a:off x="621792" y="2221992"/>
            <a:ext cx="1645920" cy="384048"/>
          </a:xfrm>
          <a:prstGeom prst="rect">
            <a:avLst/>
          </a:prstGeom>
          <a:noFill/>
          <a:ln/>
        </p:spPr>
        <p:txBody>
          <a:bodyPr wrap="square" lIns="0" tIns="0" rIns="0" bIns="0" rtlCol="0" anchor="t"/>
          <a:lstStyle/>
          <a:p>
            <a:pPr indent="0" marL="0">
              <a:buNone/>
            </a:pPr>
            <a:r>
              <a:rPr lang="en-US" sz="1050" dirty="0">
                <a:solidFill>
                  <a:schemeClr val="accent6"/>
                </a:solidFill>
              </a:rPr>
              <a:t>Full scenes on lab laptops, no cluster or licence</a:t>
            </a:r>
            <a:endParaRPr lang="en-US" sz="1050" dirty="0"/>
          </a:p>
        </p:txBody>
      </p:sp>
      <p:sp>
        <p:nvSpPr>
          <p:cNvPr id="8" name="beneficiary card 2"/>
          <p:cNvSpPr/>
          <p:nvPr/>
        </p:nvSpPr>
        <p:spPr>
          <a:xfrm>
            <a:off x="2560320" y="1051560"/>
            <a:ext cx="1920240" cy="1600200"/>
          </a:xfrm>
          <a:prstGeom prst="roundRect">
            <a:avLst>
              <a:gd name="adj" fmla="val 4571"/>
            </a:avLst>
          </a:prstGeom>
          <a:solidFill>
            <a:schemeClr val="bg2"/>
          </a:solidFill>
          <a:ln w="12700">
            <a:solidFill>
              <a:schemeClr val="bg2"/>
            </a:solidFill>
            <a:prstDash val="solid"/>
          </a:ln>
        </p:spPr>
      </p:sp>
      <p:sp>
        <p:nvSpPr>
          <p:cNvPr id="9" name="beneficiary 2 circle"/>
          <p:cNvSpPr/>
          <p:nvPr/>
        </p:nvSpPr>
        <p:spPr>
          <a:xfrm>
            <a:off x="2724912" y="1188720"/>
            <a:ext cx="502920" cy="502920"/>
          </a:xfrm>
          <a:prstGeom prst="ellipse">
            <a:avLst/>
          </a:prstGeom>
          <a:solidFill>
            <a:schemeClr val="accent3"/>
          </a:solidFill>
          <a:ln w="12700">
            <a:solidFill>
              <a:schemeClr val="accent3"/>
            </a:solidFill>
            <a:prstDash val="solid"/>
          </a:ln>
        </p:spPr>
      </p:sp>
      <p:pic>
        <p:nvPicPr>
          <p:cNvPr id="10" name="beneficiary 2 icon" descr="preencoded.png">    </p:cNvPr>
          <p:cNvPicPr>
            <a:picLocks noChangeAspect="1"/>
          </p:cNvPicPr>
          <p:nvPr/>
        </p:nvPicPr>
        <p:blipFill>
          <a:blip r:embed="rId2"/>
          <a:stretch>
            <a:fillRect/>
          </a:stretch>
        </p:blipFill>
        <p:spPr>
          <a:xfrm>
            <a:off x="2845613" y="1309421"/>
            <a:ext cx="261518" cy="261518"/>
          </a:xfrm>
          <a:prstGeom prst="rect">
            <a:avLst/>
          </a:prstGeom>
        </p:spPr>
      </p:pic>
      <p:sp>
        <p:nvSpPr>
          <p:cNvPr id="11" name="beneficiary title 2"/>
          <p:cNvSpPr txBox="1"/>
          <p:nvPr/>
        </p:nvSpPr>
        <p:spPr>
          <a:xfrm>
            <a:off x="2724912" y="1764792"/>
            <a:ext cx="1645920" cy="420624"/>
          </a:xfrm>
          <a:prstGeom prst="rect">
            <a:avLst/>
          </a:prstGeom>
          <a:noFill/>
          <a:ln/>
        </p:spPr>
        <p:txBody>
          <a:bodyPr wrap="square" lIns="0" tIns="0" rIns="0" bIns="0" rtlCol="0" anchor="t"/>
          <a:lstStyle/>
          <a:p>
            <a:pPr indent="0" marL="0">
              <a:buNone/>
            </a:pPr>
            <a:r>
              <a:rPr lang="en-US" sz="1300" b="1" dirty="0">
                <a:solidFill>
                  <a:schemeClr val="tx1"/>
                </a:solidFill>
              </a:rPr>
              <a:t>Agriculture and forestry</a:t>
            </a:r>
            <a:endParaRPr lang="en-US" sz="1300" dirty="0"/>
          </a:p>
        </p:txBody>
      </p:sp>
      <p:sp>
        <p:nvSpPr>
          <p:cNvPr id="12" name="beneficiary text 2"/>
          <p:cNvSpPr txBox="1"/>
          <p:nvPr/>
        </p:nvSpPr>
        <p:spPr>
          <a:xfrm>
            <a:off x="2724912" y="2221992"/>
            <a:ext cx="1645920" cy="384048"/>
          </a:xfrm>
          <a:prstGeom prst="rect">
            <a:avLst/>
          </a:prstGeom>
          <a:noFill/>
          <a:ln/>
        </p:spPr>
        <p:txBody>
          <a:bodyPr wrap="square" lIns="0" tIns="0" rIns="0" bIns="0" rtlCol="0" anchor="t"/>
          <a:lstStyle/>
          <a:p>
            <a:pPr indent="0" marL="0">
              <a:buNone/>
            </a:pPr>
            <a:r>
              <a:rPr lang="en-US" sz="1050" dirty="0">
                <a:solidFill>
                  <a:schemeClr val="accent6"/>
                </a:solidFill>
              </a:rPr>
              <a:t>Per-field indices, vegetation masks and land cover</a:t>
            </a:r>
            <a:endParaRPr lang="en-US" sz="1050" dirty="0"/>
          </a:p>
        </p:txBody>
      </p:sp>
      <p:sp>
        <p:nvSpPr>
          <p:cNvPr id="13" name="beneficiary card 3"/>
          <p:cNvSpPr/>
          <p:nvPr/>
        </p:nvSpPr>
        <p:spPr>
          <a:xfrm>
            <a:off x="4663440" y="1051560"/>
            <a:ext cx="1920240" cy="1600200"/>
          </a:xfrm>
          <a:prstGeom prst="roundRect">
            <a:avLst>
              <a:gd name="adj" fmla="val 4571"/>
            </a:avLst>
          </a:prstGeom>
          <a:solidFill>
            <a:schemeClr val="bg2"/>
          </a:solidFill>
          <a:ln w="12700">
            <a:solidFill>
              <a:schemeClr val="bg2"/>
            </a:solidFill>
            <a:prstDash val="solid"/>
          </a:ln>
        </p:spPr>
      </p:sp>
      <p:sp>
        <p:nvSpPr>
          <p:cNvPr id="14" name="beneficiary 3 circle"/>
          <p:cNvSpPr/>
          <p:nvPr/>
        </p:nvSpPr>
        <p:spPr>
          <a:xfrm>
            <a:off x="4828032" y="1188720"/>
            <a:ext cx="502920" cy="502920"/>
          </a:xfrm>
          <a:prstGeom prst="ellipse">
            <a:avLst/>
          </a:prstGeom>
          <a:solidFill>
            <a:schemeClr val="accent2"/>
          </a:solidFill>
          <a:ln w="12700">
            <a:solidFill>
              <a:schemeClr val="accent2"/>
            </a:solidFill>
            <a:prstDash val="solid"/>
          </a:ln>
        </p:spPr>
      </p:sp>
      <p:pic>
        <p:nvPicPr>
          <p:cNvPr id="15" name="beneficiary 3 icon" descr="preencoded.png">    </p:cNvPr>
          <p:cNvPicPr>
            <a:picLocks noChangeAspect="1"/>
          </p:cNvPicPr>
          <p:nvPr/>
        </p:nvPicPr>
        <p:blipFill>
          <a:blip r:embed="rId3"/>
          <a:stretch>
            <a:fillRect/>
          </a:stretch>
        </p:blipFill>
        <p:spPr>
          <a:xfrm>
            <a:off x="4948733" y="1309421"/>
            <a:ext cx="261518" cy="261518"/>
          </a:xfrm>
          <a:prstGeom prst="rect">
            <a:avLst/>
          </a:prstGeom>
        </p:spPr>
      </p:pic>
      <p:sp>
        <p:nvSpPr>
          <p:cNvPr id="16" name="beneficiary title 3"/>
          <p:cNvSpPr txBox="1"/>
          <p:nvPr/>
        </p:nvSpPr>
        <p:spPr>
          <a:xfrm>
            <a:off x="4828032" y="1764792"/>
            <a:ext cx="1645920" cy="420624"/>
          </a:xfrm>
          <a:prstGeom prst="rect">
            <a:avLst/>
          </a:prstGeom>
          <a:noFill/>
          <a:ln/>
        </p:spPr>
        <p:txBody>
          <a:bodyPr wrap="square" lIns="0" tIns="0" rIns="0" bIns="0" rtlCol="0" anchor="t"/>
          <a:lstStyle/>
          <a:p>
            <a:pPr indent="0" marL="0">
              <a:buNone/>
            </a:pPr>
            <a:r>
              <a:rPr lang="en-US" sz="1300" b="1" dirty="0">
                <a:solidFill>
                  <a:schemeClr val="tx1"/>
                </a:solidFill>
              </a:rPr>
              <a:t>Water and disaster agencies</a:t>
            </a:r>
            <a:endParaRPr lang="en-US" sz="1300" dirty="0"/>
          </a:p>
        </p:txBody>
      </p:sp>
      <p:sp>
        <p:nvSpPr>
          <p:cNvPr id="17" name="beneficiary text 3"/>
          <p:cNvSpPr txBox="1"/>
          <p:nvPr/>
        </p:nvSpPr>
        <p:spPr>
          <a:xfrm>
            <a:off x="4828032" y="2221992"/>
            <a:ext cx="1645920" cy="384048"/>
          </a:xfrm>
          <a:prstGeom prst="rect">
            <a:avLst/>
          </a:prstGeom>
          <a:noFill/>
          <a:ln/>
        </p:spPr>
        <p:txBody>
          <a:bodyPr wrap="square" lIns="0" tIns="0" rIns="0" bIns="0" rtlCol="0" anchor="t"/>
          <a:lstStyle/>
          <a:p>
            <a:pPr indent="0" marL="0">
              <a:buNone/>
            </a:pPr>
            <a:r>
              <a:rPr lang="en-US" sz="1050" dirty="0">
                <a:solidFill>
                  <a:schemeClr val="accent6"/>
                </a:solidFill>
              </a:rPr>
              <a:t>Water, snow and glacier detection in seconds</a:t>
            </a:r>
            <a:endParaRPr lang="en-US" sz="1050" dirty="0"/>
          </a:p>
        </p:txBody>
      </p:sp>
      <p:sp>
        <p:nvSpPr>
          <p:cNvPr id="18" name="beneficiary card 4"/>
          <p:cNvSpPr/>
          <p:nvPr/>
        </p:nvSpPr>
        <p:spPr>
          <a:xfrm>
            <a:off x="6766560" y="1051560"/>
            <a:ext cx="1920240" cy="1600200"/>
          </a:xfrm>
          <a:prstGeom prst="roundRect">
            <a:avLst>
              <a:gd name="adj" fmla="val 4571"/>
            </a:avLst>
          </a:prstGeom>
          <a:solidFill>
            <a:schemeClr val="bg2"/>
          </a:solidFill>
          <a:ln w="12700">
            <a:solidFill>
              <a:schemeClr val="bg2"/>
            </a:solidFill>
            <a:prstDash val="solid"/>
          </a:ln>
        </p:spPr>
      </p:sp>
      <p:sp>
        <p:nvSpPr>
          <p:cNvPr id="19" name="beneficiary 4 circle"/>
          <p:cNvSpPr/>
          <p:nvPr/>
        </p:nvSpPr>
        <p:spPr>
          <a:xfrm>
            <a:off x="6931152" y="1188720"/>
            <a:ext cx="502920" cy="502920"/>
          </a:xfrm>
          <a:prstGeom prst="ellipse">
            <a:avLst/>
          </a:prstGeom>
          <a:solidFill>
            <a:schemeClr val="accent5"/>
          </a:solidFill>
          <a:ln w="12700">
            <a:solidFill>
              <a:schemeClr val="accent5"/>
            </a:solidFill>
            <a:prstDash val="solid"/>
          </a:ln>
        </p:spPr>
      </p:sp>
      <p:pic>
        <p:nvPicPr>
          <p:cNvPr id="20" name="beneficiary 4 icon" descr="preencoded.png">    </p:cNvPr>
          <p:cNvPicPr>
            <a:picLocks noChangeAspect="1"/>
          </p:cNvPicPr>
          <p:nvPr/>
        </p:nvPicPr>
        <p:blipFill>
          <a:blip r:embed="rId4"/>
          <a:stretch>
            <a:fillRect/>
          </a:stretch>
        </p:blipFill>
        <p:spPr>
          <a:xfrm>
            <a:off x="7051853" y="1309421"/>
            <a:ext cx="261518" cy="261518"/>
          </a:xfrm>
          <a:prstGeom prst="rect">
            <a:avLst/>
          </a:prstGeom>
        </p:spPr>
      </p:pic>
      <p:sp>
        <p:nvSpPr>
          <p:cNvPr id="21" name="beneficiary title 4"/>
          <p:cNvSpPr txBox="1"/>
          <p:nvPr/>
        </p:nvSpPr>
        <p:spPr>
          <a:xfrm>
            <a:off x="6931152" y="1764792"/>
            <a:ext cx="1645920" cy="420624"/>
          </a:xfrm>
          <a:prstGeom prst="rect">
            <a:avLst/>
          </a:prstGeom>
          <a:noFill/>
          <a:ln/>
        </p:spPr>
        <p:txBody>
          <a:bodyPr wrap="square" lIns="0" tIns="0" rIns="0" bIns="0" rtlCol="0" anchor="t"/>
          <a:lstStyle/>
          <a:p>
            <a:pPr indent="0" marL="0">
              <a:buNone/>
            </a:pPr>
            <a:r>
              <a:rPr lang="en-US" sz="1300" b="1" dirty="0">
                <a:solidFill>
                  <a:schemeClr val="tx1"/>
                </a:solidFill>
              </a:rPr>
              <a:t>Planners and the QGIS community</a:t>
            </a:r>
            <a:endParaRPr lang="en-US" sz="1300" dirty="0"/>
          </a:p>
        </p:txBody>
      </p:sp>
      <p:sp>
        <p:nvSpPr>
          <p:cNvPr id="22" name="beneficiary text 4"/>
          <p:cNvSpPr txBox="1"/>
          <p:nvPr/>
        </p:nvSpPr>
        <p:spPr>
          <a:xfrm>
            <a:off x="6931152" y="2221992"/>
            <a:ext cx="1645920" cy="384048"/>
          </a:xfrm>
          <a:prstGeom prst="rect">
            <a:avLst/>
          </a:prstGeom>
          <a:noFill/>
          <a:ln/>
        </p:spPr>
        <p:txBody>
          <a:bodyPr wrap="square" lIns="0" tIns="0" rIns="0" bIns="0" rtlCol="0" anchor="t"/>
          <a:lstStyle/>
          <a:p>
            <a:pPr indent="0" marL="0">
              <a:buNone/>
            </a:pPr>
            <a:r>
              <a:rPr lang="en-US" sz="1050" dirty="0">
                <a:solidFill>
                  <a:schemeClr val="accent6"/>
                </a:solidFill>
              </a:rPr>
              <a:t>Built-up index; open, reusable plugins</a:t>
            </a:r>
            <a:endParaRPr lang="en-US" sz="1050" dirty="0"/>
          </a:p>
        </p:txBody>
      </p:sp>
      <p:sp>
        <p:nvSpPr>
          <p:cNvPr id="23" name="outcomes heading"/>
          <p:cNvSpPr txBox="1"/>
          <p:nvPr/>
        </p:nvSpPr>
        <p:spPr>
          <a:xfrm>
            <a:off x="457200" y="2834640"/>
            <a:ext cx="8229600" cy="274320"/>
          </a:xfrm>
          <a:prstGeom prst="rect">
            <a:avLst/>
          </a:prstGeom>
          <a:noFill/>
          <a:ln/>
        </p:spPr>
        <p:txBody>
          <a:bodyPr wrap="square" lIns="0" tIns="0" rIns="0" bIns="0" rtlCol="0" anchor="ctr"/>
          <a:lstStyle/>
          <a:p>
            <a:pPr indent="0" marL="0">
              <a:buNone/>
            </a:pPr>
            <a:r>
              <a:rPr lang="en-US" sz="1300" b="1" dirty="0">
                <a:solidFill>
                  <a:schemeClr val="tx2"/>
                </a:solidFill>
              </a:rPr>
              <a:t>Measured outcomes on the EnMAP study scene (Apple M4 Pro laptop)</a:t>
            </a:r>
            <a:endParaRPr lang="en-US" sz="1300" dirty="0"/>
          </a:p>
        </p:txBody>
      </p:sp>
      <p:sp>
        <p:nvSpPr>
          <p:cNvPr id="24" name="outcome 1"/>
          <p:cNvSpPr txBox="1"/>
          <p:nvPr/>
        </p:nvSpPr>
        <p:spPr>
          <a:xfrm>
            <a:off x="457200" y="3154680"/>
            <a:ext cx="1554480" cy="566928"/>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2.5 s</a:t>
            </a:r>
            <a:endParaRPr lang="en-US" sz="3200" dirty="0"/>
          </a:p>
        </p:txBody>
      </p:sp>
      <p:sp>
        <p:nvSpPr>
          <p:cNvPr id="25" name="outcome label 1"/>
          <p:cNvSpPr txBox="1"/>
          <p:nvPr/>
        </p:nvSpPr>
        <p:spPr>
          <a:xfrm>
            <a:off x="457200" y="3721608"/>
            <a:ext cx="1554480" cy="411480"/>
          </a:xfrm>
          <a:prstGeom prst="rect">
            <a:avLst/>
          </a:prstGeom>
          <a:noFill/>
          <a:ln/>
        </p:spPr>
        <p:txBody>
          <a:bodyPr wrap="square" lIns="0" tIns="0" rIns="0" bIns="0" rtlCol="0" anchor="ctr"/>
          <a:lstStyle/>
          <a:p>
            <a:pPr indent="0" marL="0">
              <a:buNone/>
            </a:pPr>
            <a:r>
              <a:rPr lang="en-US" sz="1100" dirty="0">
                <a:solidFill>
                  <a:schemeClr val="tx1"/>
                </a:solidFill>
              </a:rPr>
              <a:t>all 7 indices,</a:t>
            </a:r>
            <a:endParaRPr lang="en-US" sz="1100" dirty="0"/>
          </a:p>
          <a:p>
            <a:pPr indent="0" marL="0">
              <a:buNone/>
            </a:pPr>
            <a:r>
              <a:rPr lang="en-US" sz="1100" dirty="0">
                <a:solidFill>
                  <a:schemeClr val="tx1"/>
                </a:solidFill>
              </a:rPr>
              <a:t>whole scene</a:t>
            </a:r>
            <a:endParaRPr lang="en-US" sz="1100" dirty="0"/>
          </a:p>
        </p:txBody>
      </p:sp>
      <p:sp>
        <p:nvSpPr>
          <p:cNvPr id="26" name="outcome 2"/>
          <p:cNvSpPr txBox="1"/>
          <p:nvPr/>
        </p:nvSpPr>
        <p:spPr>
          <a:xfrm>
            <a:off x="2139696" y="3154680"/>
            <a:ext cx="1554480" cy="566928"/>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3.4×</a:t>
            </a:r>
            <a:endParaRPr lang="en-US" sz="3200" dirty="0"/>
          </a:p>
        </p:txBody>
      </p:sp>
      <p:sp>
        <p:nvSpPr>
          <p:cNvPr id="27" name="outcome label 2"/>
          <p:cNvSpPr txBox="1"/>
          <p:nvPr/>
        </p:nvSpPr>
        <p:spPr>
          <a:xfrm>
            <a:off x="2139696" y="3721608"/>
            <a:ext cx="1554480" cy="411480"/>
          </a:xfrm>
          <a:prstGeom prst="rect">
            <a:avLst/>
          </a:prstGeom>
          <a:noFill/>
          <a:ln/>
        </p:spPr>
        <p:txBody>
          <a:bodyPr wrap="square" lIns="0" tIns="0" rIns="0" bIns="0" rtlCol="0" anchor="ctr"/>
          <a:lstStyle/>
          <a:p>
            <a:pPr indent="0" marL="0">
              <a:buNone/>
            </a:pPr>
            <a:r>
              <a:rPr lang="en-US" sz="1100" dirty="0">
                <a:solidFill>
                  <a:schemeClr val="tx1"/>
                </a:solidFill>
              </a:rPr>
              <a:t>faster on</a:t>
            </a:r>
            <a:endParaRPr lang="en-US" sz="1100" dirty="0"/>
          </a:p>
          <a:p>
            <a:pPr indent="0" marL="0">
              <a:buNone/>
            </a:pPr>
            <a:r>
              <a:rPr lang="en-US" sz="1100" dirty="0">
                <a:solidFill>
                  <a:schemeClr val="tx1"/>
                </a:solidFill>
              </a:rPr>
              <a:t>8 CPU cores</a:t>
            </a:r>
            <a:endParaRPr lang="en-US" sz="1100" dirty="0"/>
          </a:p>
        </p:txBody>
      </p:sp>
      <p:sp>
        <p:nvSpPr>
          <p:cNvPr id="28" name="outcome 3"/>
          <p:cNvSpPr txBox="1"/>
          <p:nvPr/>
        </p:nvSpPr>
        <p:spPr>
          <a:xfrm>
            <a:off x="3822192" y="3154680"/>
            <a:ext cx="1554480" cy="566928"/>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12 s</a:t>
            </a:r>
            <a:endParaRPr lang="en-US" sz="3200" dirty="0"/>
          </a:p>
        </p:txBody>
      </p:sp>
      <p:sp>
        <p:nvSpPr>
          <p:cNvPr id="29" name="outcome label 3"/>
          <p:cNvSpPr txBox="1"/>
          <p:nvPr/>
        </p:nvSpPr>
        <p:spPr>
          <a:xfrm>
            <a:off x="3822192" y="3721608"/>
            <a:ext cx="1554480" cy="411480"/>
          </a:xfrm>
          <a:prstGeom prst="rect">
            <a:avLst/>
          </a:prstGeom>
          <a:noFill/>
          <a:ln/>
        </p:spPr>
        <p:txBody>
          <a:bodyPr wrap="square" lIns="0" tIns="0" rIns="0" bIns="0" rtlCol="0" anchor="ctr"/>
          <a:lstStyle/>
          <a:p>
            <a:pPr indent="0" marL="0">
              <a:buNone/>
            </a:pPr>
            <a:r>
              <a:rPr lang="en-US" sz="1100" dirty="0">
                <a:solidFill>
                  <a:schemeClr val="tx1"/>
                </a:solidFill>
              </a:rPr>
              <a:t>machine-learned</a:t>
            </a:r>
            <a:endParaRPr lang="en-US" sz="1100" dirty="0"/>
          </a:p>
          <a:p>
            <a:pPr indent="0" marL="0">
              <a:buNone/>
            </a:pPr>
            <a:r>
              <a:rPr lang="en-US" sz="1100" dirty="0">
                <a:solidFill>
                  <a:schemeClr val="tx1"/>
                </a:solidFill>
              </a:rPr>
              <a:t>land-cover map</a:t>
            </a:r>
            <a:endParaRPr lang="en-US" sz="1100" dirty="0"/>
          </a:p>
        </p:txBody>
      </p:sp>
      <p:sp>
        <p:nvSpPr>
          <p:cNvPr id="30" name="outcome 4"/>
          <p:cNvSpPr txBox="1"/>
          <p:nvPr/>
        </p:nvSpPr>
        <p:spPr>
          <a:xfrm>
            <a:off x="5504688" y="3154680"/>
            <a:ext cx="1554480" cy="566928"/>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100 %</a:t>
            </a:r>
            <a:endParaRPr lang="en-US" sz="3200" dirty="0"/>
          </a:p>
        </p:txBody>
      </p:sp>
      <p:sp>
        <p:nvSpPr>
          <p:cNvPr id="31" name="outcome label 4"/>
          <p:cNvSpPr txBox="1"/>
          <p:nvPr/>
        </p:nvSpPr>
        <p:spPr>
          <a:xfrm>
            <a:off x="5504688" y="3721608"/>
            <a:ext cx="1554480" cy="411480"/>
          </a:xfrm>
          <a:prstGeom prst="rect">
            <a:avLst/>
          </a:prstGeom>
          <a:noFill/>
          <a:ln/>
        </p:spPr>
        <p:txBody>
          <a:bodyPr wrap="square" lIns="0" tIns="0" rIns="0" bIns="0" rtlCol="0" anchor="ctr"/>
          <a:lstStyle/>
          <a:p>
            <a:pPr indent="0" marL="0">
              <a:buNone/>
            </a:pPr>
            <a:r>
              <a:rPr lang="en-US" sz="1100" dirty="0">
                <a:solidFill>
                  <a:schemeClr val="tx1"/>
                </a:solidFill>
              </a:rPr>
              <a:t>model-to-map</a:t>
            </a:r>
            <a:endParaRPr lang="en-US" sz="1100" dirty="0"/>
          </a:p>
          <a:p>
            <a:pPr indent="0" marL="0">
              <a:buNone/>
            </a:pPr>
            <a:r>
              <a:rPr lang="en-US" sz="1100" dirty="0">
                <a:solidFill>
                  <a:schemeClr val="tx1"/>
                </a:solidFill>
              </a:rPr>
              <a:t>agreement</a:t>
            </a:r>
            <a:endParaRPr lang="en-US" sz="1100" dirty="0"/>
          </a:p>
        </p:txBody>
      </p:sp>
      <p:sp>
        <p:nvSpPr>
          <p:cNvPr id="32" name="outcome 5"/>
          <p:cNvSpPr txBox="1"/>
          <p:nvPr/>
        </p:nvSpPr>
        <p:spPr>
          <a:xfrm>
            <a:off x="7187184" y="3154680"/>
            <a:ext cx="1554480" cy="566928"/>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0.92</a:t>
            </a:r>
            <a:endParaRPr lang="en-US" sz="3200" dirty="0"/>
          </a:p>
        </p:txBody>
      </p:sp>
      <p:sp>
        <p:nvSpPr>
          <p:cNvPr id="33" name="outcome label 5"/>
          <p:cNvSpPr txBox="1"/>
          <p:nvPr/>
        </p:nvSpPr>
        <p:spPr>
          <a:xfrm>
            <a:off x="7187184" y="3721608"/>
            <a:ext cx="1554480" cy="411480"/>
          </a:xfrm>
          <a:prstGeom prst="rect">
            <a:avLst/>
          </a:prstGeom>
          <a:noFill/>
          <a:ln/>
        </p:spPr>
        <p:txBody>
          <a:bodyPr wrap="square" lIns="0" tIns="0" rIns="0" bIns="0" rtlCol="0" anchor="ctr"/>
          <a:lstStyle/>
          <a:p>
            <a:pPr indent="0" marL="0">
              <a:buNone/>
            </a:pPr>
            <a:r>
              <a:rPr lang="en-US" sz="1100" dirty="0">
                <a:solidFill>
                  <a:schemeClr val="tx1"/>
                </a:solidFill>
              </a:rPr>
              <a:t>snow precision vs</a:t>
            </a:r>
            <a:endParaRPr lang="en-US" sz="1100" dirty="0"/>
          </a:p>
          <a:p>
            <a:pPr indent="0" marL="0">
              <a:buNone/>
            </a:pPr>
            <a:r>
              <a:rPr lang="en-US" sz="1100" dirty="0">
                <a:solidFill>
                  <a:schemeClr val="tx1"/>
                </a:solidFill>
              </a:rPr>
              <a:t>DLR snow mask</a:t>
            </a:r>
            <a:endParaRPr lang="en-US" sz="1100" dirty="0"/>
          </a:p>
        </p:txBody>
      </p:sp>
      <p:sp>
        <p:nvSpPr>
          <p:cNvPr id="34" name="relevance"/>
          <p:cNvSpPr txBox="1"/>
          <p:nvPr/>
        </p:nvSpPr>
        <p:spPr>
          <a:xfrm>
            <a:off x="457200" y="4224528"/>
            <a:ext cx="8229600" cy="411480"/>
          </a:xfrm>
          <a:prstGeom prst="rect">
            <a:avLst/>
          </a:prstGeom>
          <a:noFill/>
          <a:ln/>
        </p:spPr>
        <p:txBody>
          <a:bodyPr wrap="square" lIns="0" tIns="0" rIns="0" bIns="0" rtlCol="0" anchor="ctr"/>
          <a:lstStyle/>
          <a:p>
            <a:pPr indent="0" marL="0">
              <a:buNone/>
            </a:pPr>
            <a:r>
              <a:rPr lang="en-US" sz="1250" i="1" dirty="0">
                <a:solidFill>
                  <a:schemeClr val="tx2"/>
                </a:solidFill>
              </a:rPr>
              <a:t>Relevance: growing EnMAP, PRISMA, EMIT and HySIS archives serve crops, forests, water, snow and cities — HyperSpatial puts them in the GIS users already work in.</a:t>
            </a:r>
            <a:endParaRPr lang="en-US" sz="12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tx2"/>
                </a:solidFill>
              </a:rPr>
              <a:t>Architecture and validated results</a:t>
            </a:r>
            <a:endParaRPr lang="en-US" sz="3000" dirty="0"/>
          </a:p>
        </p:txBody>
      </p:sp>
      <p:sp>
        <p:nvSpPr>
          <p:cNvPr id="3" name="node cube"/>
          <p:cNvSpPr/>
          <p:nvPr/>
        </p:nvSpPr>
        <p:spPr>
          <a:xfrm>
            <a:off x="457200" y="1051560"/>
            <a:ext cx="1463040" cy="658368"/>
          </a:xfrm>
          <a:prstGeom prst="roundRect">
            <a:avLst>
              <a:gd name="adj" fmla="val 8333"/>
            </a:avLst>
          </a:prstGeom>
          <a:solidFill>
            <a:srgbClr val="F2F1EE"/>
          </a:solidFill>
          <a:ln w="15875">
            <a:solidFill>
              <a:srgbClr val="8A8984"/>
            </a:solidFill>
            <a:prstDash val="solid"/>
          </a:ln>
        </p:spPr>
      </p:sp>
      <p:sp>
        <p:nvSpPr>
          <p:cNvPr id="4" name="node cube text"/>
          <p:cNvSpPr txBox="1"/>
          <p:nvPr/>
        </p:nvSpPr>
        <p:spPr>
          <a:xfrm>
            <a:off x="512064" y="105156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EnMAP L2A cube</a:t>
            </a:r>
            <a:endParaRPr lang="en-US" sz="1150" dirty="0"/>
          </a:p>
          <a:p>
            <a:pPr algn="ctr" indent="0" marL="0">
              <a:buNone/>
            </a:pPr>
            <a:r>
              <a:rPr lang="en-US" sz="1000" dirty="0">
                <a:solidFill>
                  <a:srgbClr val="6B6A66"/>
                </a:solidFill>
              </a:rPr>
              <a:t>224 bands · 686 MB</a:t>
            </a:r>
            <a:endParaRPr lang="en-US" sz="1150" dirty="0"/>
          </a:p>
        </p:txBody>
      </p:sp>
      <p:sp>
        <p:nvSpPr>
          <p:cNvPr id="5" name="node processing plugin"/>
          <p:cNvSpPr/>
          <p:nvPr/>
        </p:nvSpPr>
        <p:spPr>
          <a:xfrm>
            <a:off x="2148840" y="1051560"/>
            <a:ext cx="1463040" cy="658368"/>
          </a:xfrm>
          <a:prstGeom prst="roundRect">
            <a:avLst>
              <a:gd name="adj" fmla="val 8333"/>
            </a:avLst>
          </a:prstGeom>
          <a:solidFill>
            <a:srgbClr val="E3F5EE"/>
          </a:solidFill>
          <a:ln w="15875">
            <a:solidFill>
              <a:srgbClr val="1BAF7A"/>
            </a:solidFill>
            <a:prstDash val="solid"/>
          </a:ln>
        </p:spPr>
      </p:sp>
      <p:sp>
        <p:nvSpPr>
          <p:cNvPr id="6" name="node processing plugin text"/>
          <p:cNvSpPr txBox="1"/>
          <p:nvPr/>
        </p:nvSpPr>
        <p:spPr>
          <a:xfrm>
            <a:off x="2203704" y="105156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Processing plugin</a:t>
            </a:r>
            <a:endParaRPr lang="en-US" sz="1150" dirty="0"/>
          </a:p>
          <a:p>
            <a:pPr algn="ctr" indent="0" marL="0">
              <a:buNone/>
            </a:pPr>
            <a:r>
              <a:rPr lang="en-US" sz="1000" dirty="0">
                <a:solidFill>
                  <a:srgbClr val="6B6A66"/>
                </a:solidFill>
              </a:rPr>
              <a:t>indices · PCA · SAM</a:t>
            </a:r>
            <a:endParaRPr lang="en-US" sz="1150" dirty="0"/>
          </a:p>
        </p:txBody>
      </p:sp>
      <p:sp>
        <p:nvSpPr>
          <p:cNvPr id="7" name="node engine"/>
          <p:cNvSpPr/>
          <p:nvPr/>
        </p:nvSpPr>
        <p:spPr>
          <a:xfrm>
            <a:off x="3840480" y="1051560"/>
            <a:ext cx="1463040" cy="658368"/>
          </a:xfrm>
          <a:prstGeom prst="roundRect">
            <a:avLst>
              <a:gd name="adj" fmla="val 8333"/>
            </a:avLst>
          </a:prstGeom>
          <a:solidFill>
            <a:srgbClr val="E3EEFB"/>
          </a:solidFill>
          <a:ln w="15875">
            <a:solidFill>
              <a:srgbClr val="2A78D6"/>
            </a:solidFill>
            <a:prstDash val="solid"/>
          </a:ln>
        </p:spPr>
      </p:sp>
      <p:sp>
        <p:nvSpPr>
          <p:cNvPr id="8" name="node engine text"/>
          <p:cNvSpPr txBox="1"/>
          <p:nvPr/>
        </p:nvSpPr>
        <p:spPr>
          <a:xfrm>
            <a:off x="3895344" y="105156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C++17 engine</a:t>
            </a:r>
            <a:endParaRPr lang="en-US" sz="1150" dirty="0"/>
          </a:p>
          <a:p>
            <a:pPr algn="ctr" indent="0" marL="0">
              <a:buNone/>
            </a:pPr>
            <a:r>
              <a:rPr lang="en-US" sz="1000" dirty="0">
                <a:solidFill>
                  <a:srgbClr val="6B6A66"/>
                </a:solidFill>
              </a:rPr>
              <a:t>OpenMP · OpenCL GPU</a:t>
            </a:r>
            <a:endParaRPr lang="en-US" sz="1150" dirty="0"/>
          </a:p>
        </p:txBody>
      </p:sp>
      <p:sp>
        <p:nvSpPr>
          <p:cNvPr id="9" name="node engine outputs"/>
          <p:cNvSpPr/>
          <p:nvPr/>
        </p:nvSpPr>
        <p:spPr>
          <a:xfrm>
            <a:off x="5532120" y="1051560"/>
            <a:ext cx="1463040" cy="658368"/>
          </a:xfrm>
          <a:prstGeom prst="roundRect">
            <a:avLst>
              <a:gd name="adj" fmla="val 8333"/>
            </a:avLst>
          </a:prstGeom>
          <a:solidFill>
            <a:srgbClr val="FDF3DC"/>
          </a:solidFill>
          <a:ln w="15875">
            <a:solidFill>
              <a:srgbClr val="EDA100"/>
            </a:solidFill>
            <a:prstDash val="solid"/>
          </a:ln>
        </p:spPr>
      </p:sp>
      <p:sp>
        <p:nvSpPr>
          <p:cNvPr id="10" name="node engine outputs text"/>
          <p:cNvSpPr txBox="1"/>
          <p:nvPr/>
        </p:nvSpPr>
        <p:spPr>
          <a:xfrm>
            <a:off x="5586984" y="105156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Engine outputs</a:t>
            </a:r>
            <a:endParaRPr lang="en-US" sz="1150" dirty="0"/>
          </a:p>
          <a:p>
            <a:pPr algn="ctr" indent="0" marL="0">
              <a:buNone/>
            </a:pPr>
            <a:r>
              <a:rPr lang="en-US" sz="1000" dirty="0">
                <a:solidFill>
                  <a:srgbClr val="6B6A66"/>
                </a:solidFill>
              </a:rPr>
              <a:t>tiles · VRT · PCA · SAM</a:t>
            </a:r>
            <a:endParaRPr lang="en-US" sz="1150" dirty="0"/>
          </a:p>
        </p:txBody>
      </p:sp>
      <p:sp>
        <p:nvSpPr>
          <p:cNvPr id="11" name="node zones"/>
          <p:cNvSpPr/>
          <p:nvPr/>
        </p:nvSpPr>
        <p:spPr>
          <a:xfrm>
            <a:off x="457200" y="2103120"/>
            <a:ext cx="1463040" cy="658368"/>
          </a:xfrm>
          <a:prstGeom prst="roundRect">
            <a:avLst>
              <a:gd name="adj" fmla="val 8333"/>
            </a:avLst>
          </a:prstGeom>
          <a:solidFill>
            <a:srgbClr val="F2F1EE"/>
          </a:solidFill>
          <a:ln w="15875">
            <a:solidFill>
              <a:srgbClr val="8A8984"/>
            </a:solidFill>
            <a:prstDash val="solid"/>
          </a:ln>
        </p:spPr>
      </p:sp>
      <p:sp>
        <p:nvSpPr>
          <p:cNvPr id="12" name="node zones text"/>
          <p:cNvSpPr txBox="1"/>
          <p:nvPr/>
        </p:nvSpPr>
        <p:spPr>
          <a:xfrm>
            <a:off x="512064" y="210312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GeoJSON zones</a:t>
            </a:r>
            <a:endParaRPr lang="en-US" sz="1150" dirty="0"/>
          </a:p>
          <a:p>
            <a:pPr algn="ctr" indent="0" marL="0">
              <a:buNone/>
            </a:pPr>
            <a:r>
              <a:rPr lang="en-US" sz="1000" dirty="0">
                <a:solidFill>
                  <a:srgbClr val="6B6A66"/>
                </a:solidFill>
              </a:rPr>
              <a:t>AOI · fields</a:t>
            </a:r>
            <a:endParaRPr lang="en-US" sz="1150" dirty="0"/>
          </a:p>
        </p:txBody>
      </p:sp>
      <p:sp>
        <p:nvSpPr>
          <p:cNvPr id="13" name="node analytics plugin"/>
          <p:cNvSpPr/>
          <p:nvPr/>
        </p:nvSpPr>
        <p:spPr>
          <a:xfrm>
            <a:off x="2148840" y="2103120"/>
            <a:ext cx="1463040" cy="658368"/>
          </a:xfrm>
          <a:prstGeom prst="roundRect">
            <a:avLst>
              <a:gd name="adj" fmla="val 8333"/>
            </a:avLst>
          </a:prstGeom>
          <a:solidFill>
            <a:srgbClr val="E3F5EE"/>
          </a:solidFill>
          <a:ln w="15875">
            <a:solidFill>
              <a:srgbClr val="1BAF7A"/>
            </a:solidFill>
            <a:prstDash val="solid"/>
          </a:ln>
        </p:spPr>
      </p:sp>
      <p:sp>
        <p:nvSpPr>
          <p:cNvPr id="14" name="node analytics plugin text"/>
          <p:cNvSpPr txBox="1"/>
          <p:nvPr/>
        </p:nvSpPr>
        <p:spPr>
          <a:xfrm>
            <a:off x="2203704" y="210312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Analytics plugin</a:t>
            </a:r>
            <a:endParaRPr lang="en-US" sz="1150" dirty="0"/>
          </a:p>
          <a:p>
            <a:pPr algn="ctr" indent="0" marL="0">
              <a:buNone/>
            </a:pPr>
            <a:r>
              <a:rPr lang="en-US" sz="1000" dirty="0">
                <a:solidFill>
                  <a:srgbClr val="6B6A66"/>
                </a:solidFill>
              </a:rPr>
              <a:t>Q1–Q5 jobs</a:t>
            </a:r>
            <a:endParaRPr lang="en-US" sz="1150" dirty="0"/>
          </a:p>
        </p:txBody>
      </p:sp>
      <p:sp>
        <p:nvSpPr>
          <p:cNvPr id="15" name="node spark"/>
          <p:cNvSpPr/>
          <p:nvPr/>
        </p:nvSpPr>
        <p:spPr>
          <a:xfrm>
            <a:off x="3840480" y="2103120"/>
            <a:ext cx="1463040" cy="658368"/>
          </a:xfrm>
          <a:prstGeom prst="roundRect">
            <a:avLst>
              <a:gd name="adj" fmla="val 8333"/>
            </a:avLst>
          </a:prstGeom>
          <a:solidFill>
            <a:srgbClr val="FDE9DF"/>
          </a:solidFill>
          <a:ln w="15875">
            <a:solidFill>
              <a:srgbClr val="EB6834"/>
            </a:solidFill>
            <a:prstDash val="solid"/>
          </a:ln>
        </p:spPr>
      </p:sp>
      <p:sp>
        <p:nvSpPr>
          <p:cNvPr id="16" name="node spark text"/>
          <p:cNvSpPr txBox="1"/>
          <p:nvPr/>
        </p:nvSpPr>
        <p:spPr>
          <a:xfrm>
            <a:off x="3895344" y="210312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Spark + Sedona</a:t>
            </a:r>
            <a:endParaRPr lang="en-US" sz="1150" dirty="0"/>
          </a:p>
          <a:p>
            <a:pPr algn="ctr" indent="0" marL="0">
              <a:buNone/>
            </a:pPr>
            <a:r>
              <a:rPr lang="en-US" sz="1000" dirty="0">
                <a:solidFill>
                  <a:srgbClr val="6B6A66"/>
                </a:solidFill>
              </a:rPr>
              <a:t>spatial SQL · MLlib</a:t>
            </a:r>
            <a:endParaRPr lang="en-US" sz="1150" dirty="0"/>
          </a:p>
        </p:txBody>
      </p:sp>
      <p:sp>
        <p:nvSpPr>
          <p:cNvPr id="17" name="node job outputs"/>
          <p:cNvSpPr/>
          <p:nvPr/>
        </p:nvSpPr>
        <p:spPr>
          <a:xfrm>
            <a:off x="5532120" y="2103120"/>
            <a:ext cx="1463040" cy="658368"/>
          </a:xfrm>
          <a:prstGeom prst="roundRect">
            <a:avLst>
              <a:gd name="adj" fmla="val 8333"/>
            </a:avLst>
          </a:prstGeom>
          <a:solidFill>
            <a:srgbClr val="FDF3DC"/>
          </a:solidFill>
          <a:ln w="15875">
            <a:solidFill>
              <a:srgbClr val="EDA100"/>
            </a:solidFill>
            <a:prstDash val="solid"/>
          </a:ln>
        </p:spPr>
      </p:sp>
      <p:sp>
        <p:nvSpPr>
          <p:cNvPr id="18" name="node job outputs text"/>
          <p:cNvSpPr txBox="1"/>
          <p:nvPr/>
        </p:nvSpPr>
        <p:spPr>
          <a:xfrm>
            <a:off x="5586984" y="2103120"/>
            <a:ext cx="1353312" cy="658368"/>
          </a:xfrm>
          <a:prstGeom prst="rect">
            <a:avLst/>
          </a:prstGeom>
          <a:noFill/>
          <a:ln/>
        </p:spPr>
        <p:txBody>
          <a:bodyPr wrap="square" lIns="0" tIns="0" rIns="0" bIns="0" rtlCol="0" anchor="ctr"/>
          <a:lstStyle/>
          <a:p>
            <a:pPr algn="ctr" indent="0" marL="0">
              <a:buNone/>
            </a:pPr>
            <a:r>
              <a:rPr lang="en-US" sz="1150" b="1" dirty="0">
                <a:solidFill>
                  <a:srgbClr val="1F1F1F"/>
                </a:solidFill>
              </a:rPr>
              <a:t>Job outputs</a:t>
            </a:r>
            <a:endParaRPr lang="en-US" sz="1150" dirty="0"/>
          </a:p>
          <a:p>
            <a:pPr algn="ctr" indent="0" marL="0">
              <a:buNone/>
            </a:pPr>
            <a:r>
              <a:rPr lang="en-US" sz="1000" dirty="0">
                <a:solidFill>
                  <a:srgbClr val="6B6A66"/>
                </a:solidFill>
              </a:rPr>
              <a:t>CSV · class maps</a:t>
            </a:r>
            <a:endParaRPr lang="en-US" sz="1150" dirty="0"/>
          </a:p>
        </p:txBody>
      </p:sp>
      <p:sp>
        <p:nvSpPr>
          <p:cNvPr id="19" name="node canvas"/>
          <p:cNvSpPr/>
          <p:nvPr/>
        </p:nvSpPr>
        <p:spPr>
          <a:xfrm>
            <a:off x="7223760" y="1051560"/>
            <a:ext cx="1463040" cy="1709928"/>
          </a:xfrm>
          <a:prstGeom prst="roundRect">
            <a:avLst>
              <a:gd name="adj" fmla="val 3750"/>
            </a:avLst>
          </a:prstGeom>
          <a:solidFill>
            <a:srgbClr val="E3F5EE"/>
          </a:solidFill>
          <a:ln w="15875">
            <a:solidFill>
              <a:srgbClr val="1BAF7A"/>
            </a:solidFill>
            <a:prstDash val="solid"/>
          </a:ln>
        </p:spPr>
      </p:sp>
      <p:sp>
        <p:nvSpPr>
          <p:cNvPr id="20" name="node canvas text"/>
          <p:cNvSpPr txBox="1"/>
          <p:nvPr/>
        </p:nvSpPr>
        <p:spPr>
          <a:xfrm>
            <a:off x="7278624" y="1051560"/>
            <a:ext cx="1353312" cy="1709928"/>
          </a:xfrm>
          <a:prstGeom prst="rect">
            <a:avLst/>
          </a:prstGeom>
          <a:noFill/>
          <a:ln/>
        </p:spPr>
        <p:txBody>
          <a:bodyPr wrap="square" lIns="0" tIns="0" rIns="0" bIns="0" rtlCol="0" anchor="ctr"/>
          <a:lstStyle/>
          <a:p>
            <a:pPr algn="ctr" indent="0" marL="0">
              <a:buNone/>
            </a:pPr>
            <a:r>
              <a:rPr lang="en-US" sz="1150" b="1" dirty="0">
                <a:solidFill>
                  <a:srgbClr val="1F1F1F"/>
                </a:solidFill>
              </a:rPr>
              <a:t>QGIS canvas</a:t>
            </a:r>
            <a:endParaRPr lang="en-US" sz="1150" dirty="0"/>
          </a:p>
          <a:p>
            <a:pPr algn="ctr" indent="0" marL="0">
              <a:buNone/>
            </a:pPr>
            <a:r>
              <a:rPr lang="en-US" sz="1000" dirty="0">
                <a:solidFill>
                  <a:srgbClr val="6B6A66"/>
                </a:solidFill>
              </a:rPr>
              <a:t>layers + legends</a:t>
            </a:r>
            <a:endParaRPr lang="en-US" sz="1150" dirty="0"/>
          </a:p>
        </p:txBody>
      </p:sp>
      <p:sp>
        <p:nvSpPr>
          <p:cNvPr id="21" name="flow 1.5099999999999998-0"/>
          <p:cNvSpPr/>
          <p:nvPr/>
        </p:nvSpPr>
        <p:spPr>
          <a:xfrm>
            <a:off x="1938528" y="1380744"/>
            <a:ext cx="192024" cy="914"/>
          </a:xfrm>
          <a:prstGeom prst="line">
            <a:avLst/>
          </a:prstGeom>
          <a:noFill/>
          <a:ln w="15875">
            <a:solidFill>
              <a:srgbClr val="6B6A66"/>
            </a:solidFill>
            <a:prstDash val="solid"/>
            <a:tailEnd type="triangle"/>
          </a:ln>
        </p:spPr>
      </p:sp>
      <p:sp>
        <p:nvSpPr>
          <p:cNvPr id="22" name="flow 1.5099999999999998-1"/>
          <p:cNvSpPr/>
          <p:nvPr/>
        </p:nvSpPr>
        <p:spPr>
          <a:xfrm>
            <a:off x="3630168" y="1380744"/>
            <a:ext cx="192024" cy="914"/>
          </a:xfrm>
          <a:prstGeom prst="line">
            <a:avLst/>
          </a:prstGeom>
          <a:noFill/>
          <a:ln w="15875">
            <a:solidFill>
              <a:srgbClr val="6B6A66"/>
            </a:solidFill>
            <a:prstDash val="solid"/>
            <a:tailEnd type="triangle"/>
          </a:ln>
        </p:spPr>
      </p:sp>
      <p:sp>
        <p:nvSpPr>
          <p:cNvPr id="23" name="flow 1.5099999999999998-2"/>
          <p:cNvSpPr/>
          <p:nvPr/>
        </p:nvSpPr>
        <p:spPr>
          <a:xfrm>
            <a:off x="5321808" y="1380744"/>
            <a:ext cx="192024" cy="914"/>
          </a:xfrm>
          <a:prstGeom prst="line">
            <a:avLst/>
          </a:prstGeom>
          <a:noFill/>
          <a:ln w="15875">
            <a:solidFill>
              <a:srgbClr val="6B6A66"/>
            </a:solidFill>
            <a:prstDash val="solid"/>
            <a:tailEnd type="triangle"/>
          </a:ln>
        </p:spPr>
      </p:sp>
      <p:sp>
        <p:nvSpPr>
          <p:cNvPr id="24" name="flow 2.6599999999999997-0"/>
          <p:cNvSpPr/>
          <p:nvPr/>
        </p:nvSpPr>
        <p:spPr>
          <a:xfrm>
            <a:off x="1938528" y="2432304"/>
            <a:ext cx="192024" cy="914"/>
          </a:xfrm>
          <a:prstGeom prst="line">
            <a:avLst/>
          </a:prstGeom>
          <a:noFill/>
          <a:ln w="15875">
            <a:solidFill>
              <a:srgbClr val="6B6A66"/>
            </a:solidFill>
            <a:prstDash val="solid"/>
            <a:tailEnd type="triangle"/>
          </a:ln>
        </p:spPr>
      </p:sp>
      <p:sp>
        <p:nvSpPr>
          <p:cNvPr id="25" name="flow 2.6599999999999997-1"/>
          <p:cNvSpPr/>
          <p:nvPr/>
        </p:nvSpPr>
        <p:spPr>
          <a:xfrm>
            <a:off x="3630168" y="2432304"/>
            <a:ext cx="192024" cy="914"/>
          </a:xfrm>
          <a:prstGeom prst="line">
            <a:avLst/>
          </a:prstGeom>
          <a:noFill/>
          <a:ln w="15875">
            <a:solidFill>
              <a:srgbClr val="6B6A66"/>
            </a:solidFill>
            <a:prstDash val="solid"/>
            <a:tailEnd type="triangle"/>
          </a:ln>
        </p:spPr>
      </p:sp>
      <p:sp>
        <p:nvSpPr>
          <p:cNvPr id="26" name="flow 2.6599999999999997-2"/>
          <p:cNvSpPr/>
          <p:nvPr/>
        </p:nvSpPr>
        <p:spPr>
          <a:xfrm>
            <a:off x="5321808" y="2432304"/>
            <a:ext cx="192024" cy="914"/>
          </a:xfrm>
          <a:prstGeom prst="line">
            <a:avLst/>
          </a:prstGeom>
          <a:noFill/>
          <a:ln w="15875">
            <a:solidFill>
              <a:srgbClr val="6B6A66"/>
            </a:solidFill>
            <a:prstDash val="solid"/>
            <a:tailEnd type="triangle"/>
          </a:ln>
        </p:spPr>
      </p:sp>
      <p:sp>
        <p:nvSpPr>
          <p:cNvPr id="27" name="to canvas 1"/>
          <p:cNvSpPr/>
          <p:nvPr/>
        </p:nvSpPr>
        <p:spPr>
          <a:xfrm>
            <a:off x="7013448" y="1380744"/>
            <a:ext cx="192024" cy="914"/>
          </a:xfrm>
          <a:prstGeom prst="line">
            <a:avLst/>
          </a:prstGeom>
          <a:noFill/>
          <a:ln w="15875">
            <a:solidFill>
              <a:srgbClr val="6B6A66"/>
            </a:solidFill>
            <a:prstDash val="solid"/>
            <a:tailEnd type="triangle"/>
          </a:ln>
        </p:spPr>
      </p:sp>
      <p:sp>
        <p:nvSpPr>
          <p:cNvPr id="28" name="to canvas 2"/>
          <p:cNvSpPr/>
          <p:nvPr/>
        </p:nvSpPr>
        <p:spPr>
          <a:xfrm>
            <a:off x="7013448" y="2432304"/>
            <a:ext cx="192024" cy="914"/>
          </a:xfrm>
          <a:prstGeom prst="line">
            <a:avLst/>
          </a:prstGeom>
          <a:noFill/>
          <a:ln w="15875">
            <a:solidFill>
              <a:srgbClr val="6B6A66"/>
            </a:solidFill>
            <a:prstDash val="solid"/>
            <a:tailEnd type="triangle"/>
          </a:ln>
        </p:spPr>
      </p:sp>
      <p:sp>
        <p:nvSpPr>
          <p:cNvPr id="29" name="tiles to spark"/>
          <p:cNvSpPr/>
          <p:nvPr/>
        </p:nvSpPr>
        <p:spPr>
          <a:xfrm>
            <a:off x="4572000" y="1728216"/>
            <a:ext cx="914" cy="356616"/>
          </a:xfrm>
          <a:prstGeom prst="line">
            <a:avLst/>
          </a:prstGeom>
          <a:noFill/>
          <a:ln w="15875">
            <a:solidFill>
              <a:srgbClr val="6B6A66"/>
            </a:solidFill>
            <a:prstDash val="solid"/>
            <a:tailEnd type="triangle"/>
          </a:ln>
        </p:spPr>
      </p:sp>
      <p:sp>
        <p:nvSpPr>
          <p:cNvPr id="30" name="tiles label"/>
          <p:cNvSpPr txBox="1"/>
          <p:nvPr/>
        </p:nvSpPr>
        <p:spPr>
          <a:xfrm>
            <a:off x="4626864" y="1783080"/>
            <a:ext cx="548640" cy="228600"/>
          </a:xfrm>
          <a:prstGeom prst="rect">
            <a:avLst/>
          </a:prstGeom>
          <a:noFill/>
          <a:ln/>
        </p:spPr>
        <p:txBody>
          <a:bodyPr wrap="square" lIns="0" tIns="0" rIns="0" bIns="0" rtlCol="0" anchor="ctr"/>
          <a:lstStyle/>
          <a:p>
            <a:pPr indent="0" marL="0">
              <a:buNone/>
            </a:pPr>
            <a:r>
              <a:rPr lang="en-US" sz="950" i="1" dirty="0">
                <a:solidFill>
                  <a:schemeClr val="accent6"/>
                </a:solidFill>
              </a:rPr>
              <a:t>tiles</a:t>
            </a:r>
            <a:endParaRPr lang="en-US" sz="950" dirty="0"/>
          </a:p>
        </p:txBody>
      </p:sp>
      <p:graphicFrame>
        <p:nvGraphicFramePr>
          <p:cNvPr id="31" name="runtime chart" descr=""/>
          <p:cNvGraphicFramePr/>
          <p:nvPr/>
        </p:nvGraphicFramePr>
        <p:xfrm>
          <a:off x="457200" y="2971800"/>
          <a:ext cx="4206240" cy="1737360"/>
        </p:xfrm>
        <a:graphic xmlns:a="http://schemas.openxmlformats.org/drawingml/2006/main">
          <a:graphicData uri="http://schemas.openxmlformats.org/drawingml/2006/chart">
            <c:chart xmlns:c="http://schemas.openxmlformats.org/drawingml/2006/chart" r:id="rId1"/>
          </a:graphicData>
        </a:graphic>
      </p:graphicFrame>
      <p:sp>
        <p:nvSpPr>
          <p:cNvPr id="32" name="validation card"/>
          <p:cNvSpPr/>
          <p:nvPr/>
        </p:nvSpPr>
        <p:spPr>
          <a:xfrm>
            <a:off x="4892040" y="2971800"/>
            <a:ext cx="3794760" cy="1737360"/>
          </a:xfrm>
          <a:prstGeom prst="roundRect">
            <a:avLst>
              <a:gd name="adj" fmla="val 4211"/>
            </a:avLst>
          </a:prstGeom>
          <a:solidFill>
            <a:schemeClr val="bg2"/>
          </a:solidFill>
          <a:ln w="12700">
            <a:solidFill>
              <a:schemeClr val="bg2"/>
            </a:solidFill>
            <a:prstDash val="solid"/>
          </a:ln>
        </p:spPr>
      </p:sp>
      <p:sp>
        <p:nvSpPr>
          <p:cNvPr id="33" name="validation title"/>
          <p:cNvSpPr txBox="1"/>
          <p:nvPr/>
        </p:nvSpPr>
        <p:spPr>
          <a:xfrm>
            <a:off x="5074920" y="3044952"/>
            <a:ext cx="3474720" cy="292608"/>
          </a:xfrm>
          <a:prstGeom prst="rect">
            <a:avLst/>
          </a:prstGeom>
          <a:noFill/>
          <a:ln/>
        </p:spPr>
        <p:txBody>
          <a:bodyPr wrap="square" lIns="0" tIns="0" rIns="0" bIns="0" rtlCol="0" anchor="ctr"/>
          <a:lstStyle/>
          <a:p>
            <a:pPr indent="0" marL="0">
              <a:buNone/>
            </a:pPr>
            <a:r>
              <a:rPr lang="en-US" sz="1300" b="1" dirty="0">
                <a:solidFill>
                  <a:schemeClr val="tx2"/>
                </a:solidFill>
              </a:rPr>
              <a:t>Validated on the study scene</a:t>
            </a:r>
            <a:endParaRPr lang="en-US" sz="1300" dirty="0"/>
          </a:p>
        </p:txBody>
      </p:sp>
      <p:pic>
        <p:nvPicPr>
          <p:cNvPr id="34" name="check icon 1" descr="preencoded.png">    </p:cNvPr>
          <p:cNvPicPr>
            <a:picLocks noChangeAspect="1"/>
          </p:cNvPicPr>
          <p:nvPr/>
        </p:nvPicPr>
        <p:blipFill>
          <a:blip r:embed="rId2"/>
          <a:stretch>
            <a:fillRect/>
          </a:stretch>
        </p:blipFill>
        <p:spPr>
          <a:xfrm>
            <a:off x="5074920" y="3438144"/>
            <a:ext cx="182880" cy="182880"/>
          </a:xfrm>
          <a:prstGeom prst="rect">
            <a:avLst/>
          </a:prstGeom>
        </p:spPr>
      </p:pic>
      <p:sp>
        <p:nvSpPr>
          <p:cNvPr id="35" name="check 1"/>
          <p:cNvSpPr txBox="1"/>
          <p:nvPr/>
        </p:nvSpPr>
        <p:spPr>
          <a:xfrm>
            <a:off x="5349240" y="3401568"/>
            <a:ext cx="3246120" cy="256032"/>
          </a:xfrm>
          <a:prstGeom prst="rect">
            <a:avLst/>
          </a:prstGeom>
          <a:noFill/>
          <a:ln/>
        </p:spPr>
        <p:txBody>
          <a:bodyPr wrap="square" lIns="0" tIns="0" rIns="0" bIns="0" rtlCol="0" anchor="ctr"/>
          <a:lstStyle/>
          <a:p>
            <a:pPr indent="0" marL="0">
              <a:buNone/>
            </a:pPr>
            <a:r>
              <a:rPr lang="en-US" sz="1150" dirty="0">
                <a:solidFill>
                  <a:schemeClr val="tx1"/>
                </a:solidFill>
              </a:rPr>
              <a:t>Raw-cube NDVI = independent NumPy (0.5616)</a:t>
            </a:r>
            <a:endParaRPr lang="en-US" sz="1150" dirty="0"/>
          </a:p>
        </p:txBody>
      </p:sp>
      <p:pic>
        <p:nvPicPr>
          <p:cNvPr id="36" name="check icon 2" descr="preencoded.png">    </p:cNvPr>
          <p:cNvPicPr>
            <a:picLocks noChangeAspect="1"/>
          </p:cNvPicPr>
          <p:nvPr/>
        </p:nvPicPr>
        <p:blipFill>
          <a:blip r:embed="rId3"/>
          <a:stretch>
            <a:fillRect/>
          </a:stretch>
        </p:blipFill>
        <p:spPr>
          <a:xfrm>
            <a:off x="5074920" y="3749040"/>
            <a:ext cx="182880" cy="182880"/>
          </a:xfrm>
          <a:prstGeom prst="rect">
            <a:avLst/>
          </a:prstGeom>
        </p:spPr>
      </p:pic>
      <p:sp>
        <p:nvSpPr>
          <p:cNvPr id="37" name="check 2"/>
          <p:cNvSpPr txBox="1"/>
          <p:nvPr/>
        </p:nvSpPr>
        <p:spPr>
          <a:xfrm>
            <a:off x="5349240" y="3712464"/>
            <a:ext cx="3246120" cy="256032"/>
          </a:xfrm>
          <a:prstGeom prst="rect">
            <a:avLst/>
          </a:prstGeom>
          <a:noFill/>
          <a:ln/>
        </p:spPr>
        <p:txBody>
          <a:bodyPr wrap="square" lIns="0" tIns="0" rIns="0" bIns="0" rtlCol="0" anchor="ctr"/>
          <a:lstStyle/>
          <a:p>
            <a:pPr indent="0" marL="0">
              <a:buNone/>
            </a:pPr>
            <a:r>
              <a:rPr lang="en-US" sz="1150" dirty="0">
                <a:solidFill>
                  <a:schemeClr val="tx1"/>
                </a:solidFill>
              </a:rPr>
              <a:t>CPU = GPU except 1 pixel in 1.5 million</a:t>
            </a:r>
            <a:endParaRPr lang="en-US" sz="1150" dirty="0"/>
          </a:p>
        </p:txBody>
      </p:sp>
      <p:pic>
        <p:nvPicPr>
          <p:cNvPr id="38" name="check icon 3" descr="preencoded.png">    </p:cNvPr>
          <p:cNvPicPr>
            <a:picLocks noChangeAspect="1"/>
          </p:cNvPicPr>
          <p:nvPr/>
        </p:nvPicPr>
        <p:blipFill>
          <a:blip r:embed="rId4"/>
          <a:stretch>
            <a:fillRect/>
          </a:stretch>
        </p:blipFill>
        <p:spPr>
          <a:xfrm>
            <a:off x="5074920" y="4059936"/>
            <a:ext cx="182880" cy="182880"/>
          </a:xfrm>
          <a:prstGeom prst="rect">
            <a:avLst/>
          </a:prstGeom>
        </p:spPr>
      </p:pic>
      <p:sp>
        <p:nvSpPr>
          <p:cNvPr id="39" name="check 3"/>
          <p:cNvSpPr txBox="1"/>
          <p:nvPr/>
        </p:nvSpPr>
        <p:spPr>
          <a:xfrm>
            <a:off x="5349240" y="4023360"/>
            <a:ext cx="3246120" cy="256032"/>
          </a:xfrm>
          <a:prstGeom prst="rect">
            <a:avLst/>
          </a:prstGeom>
          <a:noFill/>
          <a:ln/>
        </p:spPr>
        <p:txBody>
          <a:bodyPr wrap="square" lIns="0" tIns="0" rIns="0" bIns="0" rtlCol="0" anchor="ctr"/>
          <a:lstStyle/>
          <a:p>
            <a:pPr indent="0" marL="0">
              <a:buNone/>
            </a:pPr>
            <a:r>
              <a:rPr lang="en-US" sz="1150" dirty="0">
                <a:solidFill>
                  <a:schemeClr val="tx1"/>
                </a:solidFill>
              </a:rPr>
              <a:t>Water cluster IoU 0.58 vs DLR water mask</a:t>
            </a:r>
            <a:endParaRPr lang="en-US" sz="1150" dirty="0"/>
          </a:p>
        </p:txBody>
      </p:sp>
      <p:pic>
        <p:nvPicPr>
          <p:cNvPr id="40" name="check icon 4" descr="preencoded.png">    </p:cNvPr>
          <p:cNvPicPr>
            <a:picLocks noChangeAspect="1"/>
          </p:cNvPicPr>
          <p:nvPr/>
        </p:nvPicPr>
        <p:blipFill>
          <a:blip r:embed="rId5"/>
          <a:stretch>
            <a:fillRect/>
          </a:stretch>
        </p:blipFill>
        <p:spPr>
          <a:xfrm>
            <a:off x="5074920" y="4370832"/>
            <a:ext cx="182880" cy="182880"/>
          </a:xfrm>
          <a:prstGeom prst="rect">
            <a:avLst/>
          </a:prstGeom>
        </p:spPr>
      </p:pic>
      <p:sp>
        <p:nvSpPr>
          <p:cNvPr id="41" name="check 4"/>
          <p:cNvSpPr txBox="1"/>
          <p:nvPr/>
        </p:nvSpPr>
        <p:spPr>
          <a:xfrm>
            <a:off x="5349240" y="4334256"/>
            <a:ext cx="3246120" cy="256032"/>
          </a:xfrm>
          <a:prstGeom prst="rect">
            <a:avLst/>
          </a:prstGeom>
          <a:noFill/>
          <a:ln/>
        </p:spPr>
        <p:txBody>
          <a:bodyPr wrap="square" lIns="0" tIns="0" rIns="0" bIns="0" rtlCol="0" anchor="ctr"/>
          <a:lstStyle/>
          <a:p>
            <a:pPr indent="0" marL="0">
              <a:buNone/>
            </a:pPr>
            <a:r>
              <a:rPr lang="en-US" sz="1150" dirty="0">
                <a:solidFill>
                  <a:schemeClr val="tx1"/>
                </a:solidFill>
              </a:rPr>
              <a:t>All 10 QGIS-level tests pass</a:t>
            </a:r>
            <a:endParaRPr lang="en-US" sz="115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HyperSpatial">
  <a:themeElements>
    <a:clrScheme name="HyperSpatial">
      <a:dk1>
        <a:srgbClr val="1F1F1F"/>
      </a:dk1>
      <a:lt1>
        <a:srgbClr val="FFFFFF"/>
      </a:lt1>
      <a:dk2>
        <a:srgbClr val="12355B"/>
      </a:dk2>
      <a:lt2>
        <a:srgbClr val="EEF3F8"/>
      </a:lt2>
      <a:accent1>
        <a:srgbClr val="2A78D6"/>
      </a:accent1>
      <a:accent2>
        <a:srgbClr val="EB6834"/>
      </a:accent2>
      <a:accent3>
        <a:srgbClr val="1BAF7A"/>
      </a:accent3>
      <a:accent4>
        <a:srgbClr val="EDA100"/>
      </a:accent4>
      <a:accent5>
        <a:srgbClr val="6250D6"/>
      </a:accent5>
      <a:accent6>
        <a:srgbClr val="6B6A66"/>
      </a:accent6>
      <a:hlink>
        <a:srgbClr val="2A78D6"/>
      </a:hlink>
      <a:folHlink>
        <a:srgbClr val="6250D6"/>
      </a:folHlink>
    </a:clrScheme>
    <a:fontScheme name="HyperSpat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Digital University Kerala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HyperSpatial — project presentation</dc:title>
  <dc:subject>PptxGenJS Presentation</dc:subject>
  <dc:creator>Aaron R</dc:creator>
  <cp:lastModifiedBy>Aaron R</cp:lastModifiedBy>
  <cp:revision>1</cp:revision>
  <dcterms:created xsi:type="dcterms:W3CDTF">2026-10-16T13:12:09Z</dcterms:created>
  <dcterms:modified xsi:type="dcterms:W3CDTF">2026-10-16T13:12:09Z</dcterms:modified>
</cp:coreProperties>
</file>